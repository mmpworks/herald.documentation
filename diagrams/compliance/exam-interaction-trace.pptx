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822960" y="2011680"/>
            <a:ext cx="10515600" cy="1097280"/>
          </a:xfrm>
          <a:prstGeom prst="rect">
            <a:avLst/>
          </a:prstGeom>
          <a:noFill/>
        </p:spPr>
        <p:txBody>
          <a:bodyPr wrap="square">
            <a:spAutoFit/>
          </a:bodyPr>
          <a:lstStyle/>
          <a:p>
            <a:pPr algn="l"/>
            <a:r>
              <a:rPr sz="4000" b="1" i="0">
                <a:solidFill>
                  <a:srgbClr val="FAF7F0"/>
                </a:solidFill>
                <a:latin typeface="Avenir Next"/>
              </a:rPr>
              <a:t>Tracing the Examination Interaction</a:t>
            </a:r>
          </a:p>
        </p:txBody>
      </p:sp>
      <p:sp>
        <p:nvSpPr>
          <p:cNvPr id="3" name="TextBox 2"/>
          <p:cNvSpPr txBox="1"/>
          <p:nvPr/>
        </p:nvSpPr>
        <p:spPr>
          <a:xfrm>
            <a:off x="822960" y="3017520"/>
            <a:ext cx="10515600" cy="914400"/>
          </a:xfrm>
          <a:prstGeom prst="rect">
            <a:avLst/>
          </a:prstGeom>
          <a:noFill/>
        </p:spPr>
        <p:txBody>
          <a:bodyPr wrap="square">
            <a:spAutoFit/>
          </a:bodyPr>
          <a:lstStyle/>
          <a:p>
            <a:pPr algn="l"/>
            <a:r>
              <a:rPr sz="1800" b="0" i="0">
                <a:solidFill>
                  <a:srgbClr val="9EC9C8"/>
                </a:solidFill>
                <a:latin typeface="Avenir Next"/>
              </a:rPr>
              <a:t>The records that answer “who saw a confidential customer record during this exam?” —</a:t>
            </a:r>
          </a:p>
          <a:p>
            <a:pPr algn="l"/>
            <a:r>
              <a:rPr sz="1800" b="0" i="0">
                <a:solidFill>
                  <a:srgbClr val="9EC9C8"/>
                </a:solidFill>
                <a:latin typeface="Avenir Next"/>
              </a:rPr>
              <a:t>plus the supervisory context a record carries, and why the Texas profile can't move a verdict</a:t>
            </a:r>
          </a:p>
        </p:txBody>
      </p:sp>
      <p:sp>
        <p:nvSpPr>
          <p:cNvPr id="4" name="TextBox 3"/>
          <p:cNvSpPr txBox="1"/>
          <p:nvPr/>
        </p:nvSpPr>
        <p:spPr>
          <a:xfrm>
            <a:off x="822960" y="5852160"/>
            <a:ext cx="10515600" cy="457200"/>
          </a:xfrm>
          <a:prstGeom prst="rect">
            <a:avLst/>
          </a:prstGeom>
          <a:noFill/>
        </p:spPr>
        <p:txBody>
          <a:bodyPr wrap="square">
            <a:spAutoFit/>
          </a:bodyPr>
          <a:lstStyle/>
          <a:p>
            <a:pPr algn="l"/>
            <a:r>
              <a:rPr sz="1200" b="0" i="0">
                <a:solidFill>
                  <a:srgbClr val="6B7480"/>
                </a:solidFill>
                <a:latin typeface="Avenir Next"/>
              </a:rPr>
              <a:t>Herald.Documentation — diagrams/compliance — companion to merkle-seal-chain / chain-walk-reconstruction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The question, a year later</a:t>
            </a:r>
          </a:p>
        </p:txBody>
      </p:sp>
      <p:sp>
        <p:nvSpPr>
          <p:cNvPr id="3" name="TextBox 2"/>
          <p:cNvSpPr txBox="1"/>
          <p:nvPr/>
        </p:nvSpPr>
        <p:spPr>
          <a:xfrm>
            <a:off x="548640" y="886968"/>
            <a:ext cx="11064240" cy="502920"/>
          </a:xfrm>
          <a:prstGeom prst="rect">
            <a:avLst/>
          </a:prstGeom>
          <a:noFill/>
        </p:spPr>
        <p:txBody>
          <a:bodyPr wrap="square">
            <a:spAutoFit/>
          </a:bodyPr>
          <a:lstStyle/>
          <a:p>
            <a:pPr algn="l"/>
            <a:r>
              <a:rPr sz="1400" b="0" i="1">
                <a:solidFill>
                  <a:srgbClr val="6B7480"/>
                </a:solidFill>
                <a:latin typeface="Avenir Next"/>
              </a:rPr>
              <a:t>An exam is itself an interaction with confidential evidence — and today that interaction leaves no independent record</a:t>
            </a:r>
          </a:p>
        </p:txBody>
      </p:sp>
      <p:sp>
        <p:nvSpPr>
          <p:cNvPr id="4" name="TextBox 3"/>
          <p:cNvSpPr txBox="1"/>
          <p:nvPr/>
        </p:nvSpPr>
        <p:spPr>
          <a:xfrm>
            <a:off x="822960" y="1737360"/>
            <a:ext cx="10515600" cy="731520"/>
          </a:xfrm>
          <a:prstGeom prst="rect">
            <a:avLst/>
          </a:prstGeom>
          <a:noFill/>
        </p:spPr>
        <p:txBody>
          <a:bodyPr wrap="square">
            <a:spAutoFit/>
          </a:bodyPr>
          <a:lstStyle/>
          <a:p>
            <a:pPr algn="l"/>
            <a:r>
              <a:rPr sz="2400" b="1" i="0">
                <a:solidFill>
                  <a:srgbClr val="0E7C7B"/>
                </a:solidFill>
                <a:latin typeface="Avenir Next"/>
              </a:rPr>
              <a:t>“Who saw this confidential customer record during the May examination?”</a:t>
            </a:r>
          </a:p>
        </p:txBody>
      </p:sp>
      <p:sp>
        <p:nvSpPr>
          <p:cNvPr id="5" name="TextBox 4"/>
          <p:cNvSpPr txBox="1"/>
          <p:nvPr/>
        </p:nvSpPr>
        <p:spPr>
          <a:xfrm>
            <a:off x="822960" y="2743200"/>
            <a:ext cx="10607040" cy="3108960"/>
          </a:xfrm>
          <a:prstGeom prst="rect">
            <a:avLst/>
          </a:prstGeom>
          <a:noFill/>
        </p:spPr>
        <p:txBody>
          <a:bodyPr wrap="square">
            <a:spAutoFit/>
          </a:bodyPr>
          <a:lstStyle/>
          <a:p>
            <a:pPr algn="l"/>
            <a:r>
              <a:rPr sz="1500" b="0" i="0">
                <a:solidFill>
                  <a:srgbClr val="1B2A41"/>
                </a:solidFill>
                <a:latin typeface="Avenir Next"/>
              </a:rPr>
              <a:t>Today's answer rests on the bank's own access logs (mutable, the bank's say-so), portal records held</a:t>
            </a:r>
          </a:p>
          <a:p>
            <a:pPr algn="l"/>
            <a:r>
              <a:rPr sz="1500" b="0" i="0">
                <a:solidFill>
                  <a:srgbClr val="1B2A41"/>
                </a:solidFill>
                <a:latin typeface="Avenir Next"/>
              </a:rPr>
              <a:t>by a third party, and memory. The chain can do better WITHOUT touching the examiner's work:</a:t>
            </a:r>
          </a:p>
          <a:p>
            <a:pPr algn="l"/>
          </a:p>
          <a:p>
            <a:pPr algn="l"/>
            <a:r>
              <a:rPr sz="1500" b="0" i="0">
                <a:solidFill>
                  <a:srgbClr val="1B2A41"/>
                </a:solidFill>
                <a:latin typeface="Avenir Next"/>
              </a:rPr>
              <a:t>     •  bind the FACT of each access — who, which file, when, through what channel</a:t>
            </a:r>
          </a:p>
          <a:p>
            <a:pPr algn="l"/>
            <a:r>
              <a:rPr sz="1500" b="0" i="0">
                <a:solidFill>
                  <a:srgbClr val="1B2A41"/>
                </a:solidFill>
                <a:latin typeface="Avenir Next"/>
              </a:rPr>
              <a:t>     •  on the bank's side, against the bank's files, under the same seal discipline as everything else</a:t>
            </a:r>
          </a:p>
          <a:p>
            <a:pPr algn="l"/>
            <a:r>
              <a:rPr sz="1500" b="0" i="0">
                <a:solidFill>
                  <a:srgbClr val="1B2A41"/>
                </a:solidFill>
                <a:latin typeface="Avenir Next"/>
              </a:rPr>
              <a:t>     •  never the examiner's workpapers, notes, or Report of Examination — those stay the</a:t>
            </a:r>
          </a:p>
          <a:p>
            <a:pPr algn="l"/>
            <a:r>
              <a:rPr sz="1500" b="0" i="0">
                <a:solidFill>
                  <a:srgbClr val="1B2A41"/>
                </a:solidFill>
                <a:latin typeface="Avenir Next"/>
              </a:rPr>
              <a:t>        Department's confidential supervisory information, custodied on the Department's side</a:t>
            </a:r>
          </a:p>
          <a:p>
            <a:pPr algn="l"/>
          </a:p>
          <a:p>
            <a:pPr algn="l"/>
            <a:r>
              <a:rPr sz="1500" b="0" i="0">
                <a:solidFill>
                  <a:srgbClr val="1B2A41"/>
                </a:solidFill>
                <a:latin typeface="Avenir Next"/>
              </a:rPr>
              <a:t>Whether to use it is the Department's call — never the bank's.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The record — an access-trail event</a:t>
            </a:r>
          </a:p>
        </p:txBody>
      </p:sp>
      <p:sp>
        <p:nvSpPr>
          <p:cNvPr id="3" name="TextBox 2"/>
          <p:cNvSpPr txBox="1"/>
          <p:nvPr/>
        </p:nvSpPr>
        <p:spPr>
          <a:xfrm>
            <a:off x="548640" y="886968"/>
            <a:ext cx="11064240" cy="502920"/>
          </a:xfrm>
          <a:prstGeom prst="rect">
            <a:avLst/>
          </a:prstGeom>
          <a:noFill/>
        </p:spPr>
        <p:txBody>
          <a:bodyPr wrap="square">
            <a:spAutoFit/>
          </a:bodyPr>
          <a:lstStyle/>
          <a:p>
            <a:pPr algn="l"/>
            <a:r>
              <a:rPr sz="1400" b="0" i="1">
                <a:solidFill>
                  <a:srgbClr val="6B7480"/>
                </a:solidFill>
                <a:latin typeface="Avenir Next"/>
              </a:rPr>
              <a:t>Same mechanism the bank uses to record which insider reads a privileged file; rides the operational chain</a:t>
            </a:r>
          </a:p>
        </p:txBody>
      </p:sp>
      <p:sp>
        <p:nvSpPr>
          <p:cNvPr id="4" name="Rounded Rectangle 3"/>
          <p:cNvSpPr/>
          <p:nvPr/>
        </p:nvSpPr>
        <p:spPr>
          <a:xfrm>
            <a:off x="548640" y="1600200"/>
            <a:ext cx="5852160" cy="2761488"/>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48640" y="1600200"/>
            <a:ext cx="585216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ACCESS EVENT  E-2025-05-23-0455  (operational)</a:t>
            </a:r>
          </a:p>
        </p:txBody>
      </p:sp>
      <p:sp>
        <p:nvSpPr>
          <p:cNvPr id="6" name="TextBox 5"/>
          <p:cNvSpPr txBox="1"/>
          <p:nvPr/>
        </p:nvSpPr>
        <p:spPr>
          <a:xfrm>
            <a:off x="658368" y="1947672"/>
            <a:ext cx="5669280" cy="237744"/>
          </a:xfrm>
          <a:prstGeom prst="rect">
            <a:avLst/>
          </a:prstGeom>
          <a:noFill/>
        </p:spPr>
        <p:txBody>
          <a:bodyPr wrap="square">
            <a:spAutoFit/>
          </a:bodyPr>
          <a:lstStyle/>
          <a:p>
            <a:pPr algn="l"/>
            <a:r>
              <a:rPr sz="1050" b="0" i="0">
                <a:solidFill>
                  <a:srgbClr val="1B2A41"/>
                </a:solidFill>
                <a:latin typeface="Menlo"/>
              </a:rPr>
              <a:t>entry_id      : E-2025-05-23-0455</a:t>
            </a:r>
          </a:p>
        </p:txBody>
      </p:sp>
      <p:sp>
        <p:nvSpPr>
          <p:cNvPr id="7" name="TextBox 6"/>
          <p:cNvSpPr txBox="1"/>
          <p:nvPr/>
        </p:nvSpPr>
        <p:spPr>
          <a:xfrm>
            <a:off x="658368" y="2185415"/>
            <a:ext cx="5669280" cy="237744"/>
          </a:xfrm>
          <a:prstGeom prst="rect">
            <a:avLst/>
          </a:prstGeom>
          <a:noFill/>
        </p:spPr>
        <p:txBody>
          <a:bodyPr wrap="square">
            <a:spAutoFit/>
          </a:bodyPr>
          <a:lstStyle/>
          <a:p>
            <a:pPr algn="l"/>
            <a:r>
              <a:rPr sz="1050" b="0" i="0">
                <a:solidFill>
                  <a:srgbClr val="1B2A41"/>
                </a:solidFill>
                <a:latin typeface="Menlo"/>
              </a:rPr>
              <a:t>ts            : 2025-05-23T15:42:09Z</a:t>
            </a:r>
          </a:p>
        </p:txBody>
      </p:sp>
      <p:sp>
        <p:nvSpPr>
          <p:cNvPr id="8" name="TextBox 7"/>
          <p:cNvSpPr txBox="1"/>
          <p:nvPr/>
        </p:nvSpPr>
        <p:spPr>
          <a:xfrm>
            <a:off x="658368" y="2423159"/>
            <a:ext cx="5669280" cy="237744"/>
          </a:xfrm>
          <a:prstGeom prst="rect">
            <a:avLst/>
          </a:prstGeom>
          <a:noFill/>
        </p:spPr>
        <p:txBody>
          <a:bodyPr wrap="square">
            <a:spAutoFit/>
          </a:bodyPr>
          <a:lstStyle/>
          <a:p>
            <a:pPr algn="l"/>
            <a:r>
              <a:rPr sz="1050" b="0" i="0">
                <a:solidFill>
                  <a:srgbClr val="1B2A41"/>
                </a:solidFill>
                <a:latin typeface="Menlo"/>
              </a:rPr>
              <a:t>event         : audit.access.read</a:t>
            </a:r>
          </a:p>
        </p:txBody>
      </p:sp>
      <p:sp>
        <p:nvSpPr>
          <p:cNvPr id="9" name="TextBox 8"/>
          <p:cNvSpPr txBox="1"/>
          <p:nvPr/>
        </p:nvSpPr>
        <p:spPr>
          <a:xfrm>
            <a:off x="658368" y="2660903"/>
            <a:ext cx="5669280" cy="237744"/>
          </a:xfrm>
          <a:prstGeom prst="rect">
            <a:avLst/>
          </a:prstGeom>
          <a:noFill/>
        </p:spPr>
        <p:txBody>
          <a:bodyPr wrap="square">
            <a:spAutoFit/>
          </a:bodyPr>
          <a:lstStyle/>
          <a:p>
            <a:pPr algn="l"/>
            <a:r>
              <a:rPr sz="1050" b="0" i="0">
                <a:solidFill>
                  <a:srgbClr val="0E7C7B"/>
                </a:solidFill>
                <a:latin typeface="Menlo"/>
              </a:rPr>
              <a:t>accessor      : tdob-examiner-04 (role: IT examiner)</a:t>
            </a:r>
          </a:p>
        </p:txBody>
      </p:sp>
      <p:sp>
        <p:nvSpPr>
          <p:cNvPr id="10" name="TextBox 9"/>
          <p:cNvSpPr txBox="1"/>
          <p:nvPr/>
        </p:nvSpPr>
        <p:spPr>
          <a:xfrm>
            <a:off x="658368" y="2898647"/>
            <a:ext cx="5669280" cy="237744"/>
          </a:xfrm>
          <a:prstGeom prst="rect">
            <a:avLst/>
          </a:prstGeom>
          <a:noFill/>
        </p:spPr>
        <p:txBody>
          <a:bodyPr wrap="square">
            <a:spAutoFit/>
          </a:bodyPr>
          <a:lstStyle/>
          <a:p>
            <a:pPr algn="l"/>
            <a:r>
              <a:rPr sz="1050" b="0" i="0">
                <a:solidFill>
                  <a:srgbClr val="1B2A41"/>
                </a:solidFill>
                <a:latin typeface="Menlo"/>
              </a:rPr>
              <a:t>channel       : examiner portal session p-88131</a:t>
            </a:r>
          </a:p>
        </p:txBody>
      </p:sp>
      <p:sp>
        <p:nvSpPr>
          <p:cNvPr id="11" name="TextBox 10"/>
          <p:cNvSpPr txBox="1"/>
          <p:nvPr/>
        </p:nvSpPr>
        <p:spPr>
          <a:xfrm>
            <a:off x="658368" y="3136391"/>
            <a:ext cx="5669280" cy="237744"/>
          </a:xfrm>
          <a:prstGeom prst="rect">
            <a:avLst/>
          </a:prstGeom>
          <a:noFill/>
        </p:spPr>
        <p:txBody>
          <a:bodyPr wrap="square">
            <a:spAutoFit/>
          </a:bodyPr>
          <a:lstStyle/>
          <a:p>
            <a:pPr algn="l"/>
            <a:r>
              <a:rPr sz="1050" b="0" i="0">
                <a:solidFill>
                  <a:srgbClr val="0E7C7B"/>
                </a:solidFill>
                <a:latin typeface="Menlo"/>
              </a:rPr>
              <a:t>artifact_ref  : sha256:7c19…e2a4   ◄ the loan file</a:t>
            </a:r>
          </a:p>
        </p:txBody>
      </p:sp>
      <p:sp>
        <p:nvSpPr>
          <p:cNvPr id="12" name="TextBox 11"/>
          <p:cNvSpPr txBox="1"/>
          <p:nvPr/>
        </p:nvSpPr>
        <p:spPr>
          <a:xfrm>
            <a:off x="658368" y="3374135"/>
            <a:ext cx="5669280" cy="237744"/>
          </a:xfrm>
          <a:prstGeom prst="rect">
            <a:avLst/>
          </a:prstGeom>
          <a:noFill/>
        </p:spPr>
        <p:txBody>
          <a:bodyPr wrap="square">
            <a:spAutoFit/>
          </a:bodyPr>
          <a:lstStyle/>
          <a:p>
            <a:pPr algn="l"/>
            <a:r>
              <a:rPr sz="1050" b="0" i="0">
                <a:solidFill>
                  <a:srgbClr val="1B2A41"/>
                </a:solidFill>
                <a:latin typeface="Menlo"/>
              </a:rPr>
              <a:t>  doc_id      : LN-2025-088231</a:t>
            </a:r>
          </a:p>
        </p:txBody>
      </p:sp>
      <p:sp>
        <p:nvSpPr>
          <p:cNvPr id="13" name="TextBox 12"/>
          <p:cNvSpPr txBox="1"/>
          <p:nvPr/>
        </p:nvSpPr>
        <p:spPr>
          <a:xfrm>
            <a:off x="658368" y="3611879"/>
            <a:ext cx="5669280" cy="237744"/>
          </a:xfrm>
          <a:prstGeom prst="rect">
            <a:avLst/>
          </a:prstGeom>
          <a:noFill/>
        </p:spPr>
        <p:txBody>
          <a:bodyPr wrap="square">
            <a:spAutoFit/>
          </a:bodyPr>
          <a:lstStyle/>
          <a:p>
            <a:pPr algn="l"/>
            <a:r>
              <a:rPr sz="1050" b="0" i="0">
                <a:solidFill>
                  <a:srgbClr val="1B2A41"/>
                </a:solidFill>
                <a:latin typeface="Menlo"/>
              </a:rPr>
              <a:t>purpose       : examination (exam window 2025-05)</a:t>
            </a:r>
          </a:p>
        </p:txBody>
      </p:sp>
      <p:sp>
        <p:nvSpPr>
          <p:cNvPr id="14" name="TextBox 13"/>
          <p:cNvSpPr txBox="1"/>
          <p:nvPr/>
        </p:nvSpPr>
        <p:spPr>
          <a:xfrm>
            <a:off x="658368" y="3849623"/>
            <a:ext cx="5669280" cy="237744"/>
          </a:xfrm>
          <a:prstGeom prst="rect">
            <a:avLst/>
          </a:prstGeom>
          <a:noFill/>
        </p:spPr>
        <p:txBody>
          <a:bodyPr wrap="square">
            <a:spAutoFit/>
          </a:bodyPr>
          <a:lstStyle/>
          <a:p>
            <a:pPr algn="l"/>
            <a:r>
              <a:rPr sz="1050" b="0" i="0">
                <a:solidFill>
                  <a:srgbClr val="1B2A41"/>
                </a:solidFill>
                <a:latin typeface="Menlo"/>
              </a:rPr>
              <a:t>prev_entry_mac: 41c6…b09e</a:t>
            </a:r>
          </a:p>
        </p:txBody>
      </p:sp>
      <p:sp>
        <p:nvSpPr>
          <p:cNvPr id="15" name="TextBox 14"/>
          <p:cNvSpPr txBox="1"/>
          <p:nvPr/>
        </p:nvSpPr>
        <p:spPr>
          <a:xfrm>
            <a:off x="658368" y="4087367"/>
            <a:ext cx="5669280" cy="237744"/>
          </a:xfrm>
          <a:prstGeom prst="rect">
            <a:avLst/>
          </a:prstGeom>
          <a:noFill/>
        </p:spPr>
        <p:txBody>
          <a:bodyPr wrap="square">
            <a:spAutoFit/>
          </a:bodyPr>
          <a:lstStyle/>
          <a:p>
            <a:pPr algn="l"/>
            <a:r>
              <a:rPr sz="1050" b="0" i="0">
                <a:solidFill>
                  <a:srgbClr val="C99A2E"/>
                </a:solidFill>
                <a:latin typeface="Menlo"/>
              </a:rPr>
              <a:t>mac           : 77e2…04ba   (sealed with the day)</a:t>
            </a:r>
          </a:p>
        </p:txBody>
      </p:sp>
      <p:sp>
        <p:nvSpPr>
          <p:cNvPr id="16" name="TextBox 15"/>
          <p:cNvSpPr txBox="1"/>
          <p:nvPr/>
        </p:nvSpPr>
        <p:spPr>
          <a:xfrm>
            <a:off x="6720840" y="1783080"/>
            <a:ext cx="4937760" cy="3566160"/>
          </a:xfrm>
          <a:prstGeom prst="rect">
            <a:avLst/>
          </a:prstGeom>
          <a:noFill/>
        </p:spPr>
        <p:txBody>
          <a:bodyPr wrap="square">
            <a:spAutoFit/>
          </a:bodyPr>
          <a:lstStyle/>
          <a:p>
            <a:pPr algn="l"/>
            <a:r>
              <a:rPr sz="1300" b="0" i="0">
                <a:solidFill>
                  <a:srgbClr val="1B2A41"/>
                </a:solidFill>
                <a:latin typeface="Avenir Next"/>
              </a:rPr>
              <a:t>What it binds: the FACT of the access —</a:t>
            </a:r>
          </a:p>
          <a:p>
            <a:pPr algn="l"/>
            <a:r>
              <a:rPr sz="1300" b="0" i="0">
                <a:solidFill>
                  <a:srgbClr val="1B2A41"/>
                </a:solidFill>
                <a:latin typeface="Avenir Next"/>
              </a:rPr>
              <a:t>identity, file (by digest), time, channel.</a:t>
            </a:r>
          </a:p>
          <a:p>
            <a:pPr algn="l"/>
          </a:p>
          <a:p>
            <a:pPr algn="l"/>
            <a:r>
              <a:rPr sz="1300" b="0" i="0">
                <a:solidFill>
                  <a:srgbClr val="1B2A41"/>
                </a:solidFill>
                <a:latin typeface="Avenir Next"/>
              </a:rPr>
              <a:t>What it never touches: what the examiner</a:t>
            </a:r>
          </a:p>
          <a:p>
            <a:pPr algn="l"/>
            <a:r>
              <a:rPr sz="1300" b="0" i="0">
                <a:solidFill>
                  <a:srgbClr val="1B2A41"/>
                </a:solidFill>
                <a:latin typeface="Avenir Next"/>
              </a:rPr>
              <a:t>did with it. No workpapers, no notes, no</a:t>
            </a:r>
          </a:p>
          <a:p>
            <a:pPr algn="l"/>
            <a:r>
              <a:rPr sz="1300" b="0" i="0">
                <a:solidFill>
                  <a:srgbClr val="1B2A41"/>
                </a:solidFill>
                <a:latin typeface="Avenir Next"/>
              </a:rPr>
              <a:t>conclusions, no ROE. The examination's</a:t>
            </a:r>
          </a:p>
          <a:p>
            <a:pPr algn="l"/>
            <a:r>
              <a:rPr sz="1300" b="0" i="0">
                <a:solidFill>
                  <a:srgbClr val="1B2A41"/>
                </a:solidFill>
                <a:latin typeface="Avenir Next"/>
              </a:rPr>
              <a:t>content stays on the Department's side.</a:t>
            </a:r>
          </a:p>
          <a:p>
            <a:pPr algn="l"/>
          </a:p>
          <a:p>
            <a:pPr algn="l"/>
            <a:r>
              <a:rPr sz="1300" b="0" i="0">
                <a:solidFill>
                  <a:srgbClr val="1B2A41"/>
                </a:solidFill>
                <a:latin typeface="Avenir Next"/>
              </a:rPr>
              <a:t>Because it's an ordinary chain entry, it is</a:t>
            </a:r>
          </a:p>
          <a:p>
            <a:pPr algn="l"/>
            <a:r>
              <a:rPr sz="1300" b="0" i="0">
                <a:solidFill>
                  <a:srgbClr val="1B2A41"/>
                </a:solidFill>
                <a:latin typeface="Avenir Next"/>
              </a:rPr>
              <a:t>MAC'd, chained, and Merkle-sealed into the</a:t>
            </a:r>
          </a:p>
          <a:p>
            <a:pPr algn="l"/>
            <a:r>
              <a:rPr sz="1300" b="0" i="0">
                <a:solidFill>
                  <a:srgbClr val="1B2A41"/>
                </a:solidFill>
                <a:latin typeface="Avenir Next"/>
              </a:rPr>
              <a:t>same published daily root as the evidence</a:t>
            </a:r>
          </a:p>
          <a:p>
            <a:pPr algn="l"/>
            <a:r>
              <a:rPr sz="1300" b="0" i="0">
                <a:solidFill>
                  <a:srgbClr val="1B2A41"/>
                </a:solidFill>
                <a:latin typeface="Avenir Next"/>
              </a:rPr>
              <a:t>itself — the bank cannot quietly rewrite</a:t>
            </a:r>
          </a:p>
          <a:p>
            <a:pPr algn="l"/>
            <a:r>
              <a:rPr sz="1300" b="0" i="0">
                <a:solidFill>
                  <a:srgbClr val="1B2A41"/>
                </a:solidFill>
                <a:latin typeface="Avenir Next"/>
              </a:rPr>
              <a:t>who looked at what.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The trace — four records answer the question</a:t>
            </a:r>
          </a:p>
        </p:txBody>
      </p:sp>
      <p:sp>
        <p:nvSpPr>
          <p:cNvPr id="3" name="TextBox 2"/>
          <p:cNvSpPr txBox="1"/>
          <p:nvPr/>
        </p:nvSpPr>
        <p:spPr>
          <a:xfrm>
            <a:off x="548640" y="886968"/>
            <a:ext cx="11064240" cy="502920"/>
          </a:xfrm>
          <a:prstGeom prst="rect">
            <a:avLst/>
          </a:prstGeom>
          <a:noFill/>
        </p:spPr>
        <p:txBody>
          <a:bodyPr wrap="square">
            <a:spAutoFit/>
          </a:bodyPr>
          <a:lstStyle/>
          <a:p>
            <a:pPr algn="l"/>
            <a:r>
              <a:rPr sz="1400" b="0" i="1">
                <a:solidFill>
                  <a:srgbClr val="6B7480"/>
                </a:solidFill>
                <a:latin typeface="Avenir Next"/>
              </a:rPr>
              <a:t>Query the exam window; every step is integrity-bound, none of it rests on the bank's say-so</a:t>
            </a:r>
          </a:p>
        </p:txBody>
      </p:sp>
      <p:sp>
        <p:nvSpPr>
          <p:cNvPr id="4" name="Rounded Rectangle 3"/>
          <p:cNvSpPr/>
          <p:nvPr/>
        </p:nvSpPr>
        <p:spPr>
          <a:xfrm>
            <a:off x="548640" y="2011680"/>
            <a:ext cx="2651760" cy="1920240"/>
          </a:xfrm>
          <a:prstGeom prst="roundRect">
            <a:avLst/>
          </a:prstGeom>
          <a:solidFill>
            <a:srgbClr val="E7EEF2"/>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2A41"/>
                </a:solidFill>
                <a:latin typeface="Menlo"/>
              </a:rPr>
              <a:t>1. ACCESS EVENTS</a:t>
            </a:r>
          </a:p>
          <a:p>
            <a:pPr algn="ctr"/>
            <a:r>
              <a:rPr sz="1100" b="0">
                <a:solidFill>
                  <a:srgbClr val="1B2A41"/>
                </a:solidFill>
                <a:latin typeface="Avenir Next"/>
              </a:rPr>
              <a:t>audit.access.* entries in</a:t>
            </a:r>
          </a:p>
          <a:p>
            <a:pPr algn="ctr"/>
            <a:r>
              <a:rPr sz="1100" b="0">
                <a:solidFill>
                  <a:srgbClr val="1B2A41"/>
                </a:solidFill>
                <a:latin typeface="Avenir Next"/>
              </a:rPr>
              <a:t>the exam window naming</a:t>
            </a:r>
          </a:p>
          <a:p>
            <a:pPr algn="ctr"/>
            <a:r>
              <a:rPr sz="1100" b="0">
                <a:solidFill>
                  <a:srgbClr val="1B2A41"/>
                </a:solidFill>
                <a:latin typeface="Avenir Next"/>
              </a:rPr>
              <a:t>the artifact's digest</a:t>
            </a:r>
          </a:p>
        </p:txBody>
      </p:sp>
      <p:sp>
        <p:nvSpPr>
          <p:cNvPr id="5" name="Rounded Rectangle 4"/>
          <p:cNvSpPr/>
          <p:nvPr/>
        </p:nvSpPr>
        <p:spPr>
          <a:xfrm>
            <a:off x="3456432" y="2011680"/>
            <a:ext cx="2651760" cy="1920240"/>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2A41"/>
                </a:solidFill>
                <a:latin typeface="Menlo"/>
              </a:rPr>
              <a:t>2. ARTIFACT ENTRY</a:t>
            </a:r>
          </a:p>
          <a:p>
            <a:pPr algn="ctr"/>
            <a:r>
              <a:rPr sz="1100" b="0">
                <a:solidFill>
                  <a:srgbClr val="1B2A41"/>
                </a:solidFill>
                <a:latin typeface="Avenir Next"/>
              </a:rPr>
              <a:t>E-…-0412 — proves which</a:t>
            </a:r>
          </a:p>
          <a:p>
            <a:pPr algn="ctr"/>
            <a:r>
              <a:rPr sz="1100" b="0">
                <a:solidFill>
                  <a:srgbClr val="1B2A41"/>
                </a:solidFill>
                <a:latin typeface="Avenir Next"/>
              </a:rPr>
              <a:t>bytes the digest refers to</a:t>
            </a:r>
          </a:p>
          <a:p>
            <a:pPr algn="ctr"/>
            <a:r>
              <a:rPr sz="1100" b="0">
                <a:solidFill>
                  <a:srgbClr val="1B2A41"/>
                </a:solidFill>
                <a:latin typeface="Avenir Next"/>
              </a:rPr>
              <a:t>(doc_id, kind, ts)</a:t>
            </a:r>
          </a:p>
        </p:txBody>
      </p:sp>
      <p:cxnSp>
        <p:nvCxnSpPr>
          <p:cNvPr id="6" name="Connector 5"/>
          <p:cNvCxnSpPr/>
          <p:nvPr/>
        </p:nvCxnSpPr>
        <p:spPr>
          <a:xfrm>
            <a:off x="3200400" y="2971800"/>
            <a:ext cx="256032" cy="0"/>
          </a:xfrm>
          <a:prstGeom prst="line">
            <a:avLst/>
          </a:prstGeom>
          <a:ln w="28575">
            <a:solidFill>
              <a:srgbClr val="0E7C7B"/>
            </a:solidFill>
            <a:tailEnd type="arrow"/>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364224" y="2011680"/>
            <a:ext cx="2651760" cy="1920240"/>
          </a:xfrm>
          <a:prstGeom prst="roundRect">
            <a:avLst/>
          </a:prstGeom>
          <a:solidFill>
            <a:srgbClr val="E7EEF2"/>
          </a:solidFill>
          <a:ln w="15875">
            <a:solidFill>
              <a:srgbClr val="0E7C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2A41"/>
                </a:solidFill>
                <a:latin typeface="Menlo"/>
              </a:rPr>
              <a:t>3. DAILY SEALS</a:t>
            </a:r>
          </a:p>
          <a:p>
            <a:pPr algn="ctr"/>
            <a:r>
              <a:rPr sz="1100" b="0">
                <a:solidFill>
                  <a:srgbClr val="1B2A41"/>
                </a:solidFill>
                <a:latin typeface="Avenir Next"/>
              </a:rPr>
              <a:t>S-2025-05-23 … published</a:t>
            </a:r>
          </a:p>
          <a:p>
            <a:pPr algn="ctr"/>
            <a:r>
              <a:rPr sz="1100" b="0">
                <a:solidFill>
                  <a:srgbClr val="1B2A41"/>
                </a:solidFill>
                <a:latin typeface="Avenir Next"/>
              </a:rPr>
              <a:t>roots covering both entries,</a:t>
            </a:r>
          </a:p>
          <a:p>
            <a:pPr algn="ctr"/>
            <a:r>
              <a:rPr sz="1100" b="0">
                <a:solidFill>
                  <a:srgbClr val="1B2A41"/>
                </a:solidFill>
                <a:latin typeface="Avenir Next"/>
              </a:rPr>
              <a:t>signed at T+0</a:t>
            </a:r>
          </a:p>
        </p:txBody>
      </p:sp>
      <p:cxnSp>
        <p:nvCxnSpPr>
          <p:cNvPr id="8" name="Connector 7"/>
          <p:cNvCxnSpPr/>
          <p:nvPr/>
        </p:nvCxnSpPr>
        <p:spPr>
          <a:xfrm>
            <a:off x="6108192" y="2971800"/>
            <a:ext cx="256032" cy="0"/>
          </a:xfrm>
          <a:prstGeom prst="line">
            <a:avLst/>
          </a:prstGeom>
          <a:ln w="28575">
            <a:solidFill>
              <a:srgbClr val="0E7C7B"/>
            </a:solidFill>
            <a:tailEnd type="arrow"/>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272016" y="2011680"/>
            <a:ext cx="2651760" cy="1920240"/>
          </a:xfrm>
          <a:prstGeom prst="roundRect">
            <a:avLst/>
          </a:prstGeom>
          <a:solidFill>
            <a:srgbClr val="1B2A41"/>
          </a:solidFill>
          <a:ln w="15875">
            <a:solidFill>
              <a:srgbClr val="0E7C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AF7F0"/>
                </a:solidFill>
                <a:latin typeface="Menlo"/>
              </a:rPr>
              <a:t>4. KEY MANIFEST</a:t>
            </a:r>
          </a:p>
          <a:p>
            <a:pPr algn="ctr"/>
            <a:r>
              <a:rPr sz="1100" b="0">
                <a:solidFill>
                  <a:srgbClr val="FAF7F0"/>
                </a:solidFill>
                <a:latin typeface="Avenir Next"/>
              </a:rPr>
              <a:t>vouches every key used, on</a:t>
            </a:r>
          </a:p>
          <a:p>
            <a:pPr algn="ctr"/>
            <a:r>
              <a:rPr sz="1100" b="0">
                <a:solidFill>
                  <a:srgbClr val="FAF7F0"/>
                </a:solidFill>
                <a:latin typeface="Avenir Next"/>
              </a:rPr>
              <a:t>those dates; roles separated</a:t>
            </a:r>
          </a:p>
          <a:p>
            <a:pPr algn="ctr"/>
            <a:r>
              <a:rPr sz="1100" b="0">
                <a:solidFill>
                  <a:srgbClr val="FAF7F0"/>
                </a:solidFill>
                <a:latin typeface="Avenir Next"/>
              </a:rPr>
              <a:t>by hardware custody</a:t>
            </a:r>
          </a:p>
        </p:txBody>
      </p:sp>
      <p:cxnSp>
        <p:nvCxnSpPr>
          <p:cNvPr id="10" name="Connector 9"/>
          <p:cNvCxnSpPr/>
          <p:nvPr/>
        </p:nvCxnSpPr>
        <p:spPr>
          <a:xfrm>
            <a:off x="9015984" y="2971800"/>
            <a:ext cx="256032" cy="0"/>
          </a:xfrm>
          <a:prstGeom prst="line">
            <a:avLst/>
          </a:prstGeom>
          <a:ln w="28575">
            <a:solidFill>
              <a:srgbClr val="0E7C7B"/>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4389120"/>
            <a:ext cx="11155680" cy="1645920"/>
          </a:xfrm>
          <a:prstGeom prst="rect">
            <a:avLst/>
          </a:prstGeom>
          <a:noFill/>
        </p:spPr>
        <p:txBody>
          <a:bodyPr wrap="square">
            <a:spAutoFit/>
          </a:bodyPr>
          <a:lstStyle/>
          <a:p>
            <a:pPr algn="l"/>
            <a:r>
              <a:rPr sz="1500" b="0" i="0">
                <a:solidFill>
                  <a:srgbClr val="1B2A41"/>
                </a:solidFill>
                <a:latin typeface="Avenir Next"/>
              </a:rPr>
              <a:t>Result: an integrity-bound answer — “tdob-examiner-04 read LN-2025-088231 at 15:42 on May 23,</a:t>
            </a:r>
          </a:p>
          <a:p>
            <a:pPr algn="l"/>
            <a:r>
              <a:rPr sz="1500" b="0" i="0">
                <a:solidFill>
                  <a:srgbClr val="1B2A41"/>
                </a:solidFill>
                <a:latin typeface="Avenir Next"/>
              </a:rPr>
              <a:t>through portal session p-88131” — reproducible by re-running the verifier, independent of the bank's</a:t>
            </a:r>
          </a:p>
          <a:p>
            <a:pPr algn="l"/>
            <a:r>
              <a:rPr sz="1500" b="0" i="0">
                <a:solidFill>
                  <a:srgbClr val="1B2A41"/>
                </a:solidFill>
                <a:latin typeface="Avenir Next"/>
              </a:rPr>
              <a:t>own say-so, a year later or ten. The examiner's work product appears nowhere in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914400" y="1097280"/>
            <a:ext cx="10332720" cy="4206240"/>
          </a:xfrm>
          <a:prstGeom prst="rect">
            <a:avLst/>
          </a:prstGeom>
          <a:noFill/>
        </p:spPr>
        <p:txBody>
          <a:bodyPr wrap="square">
            <a:spAutoFit/>
          </a:bodyPr>
          <a:lstStyle/>
          <a:p>
            <a:pPr algn="l"/>
            <a:r>
              <a:rPr sz="1900" b="0" i="1">
                <a:solidFill>
                  <a:srgbClr val="FAF7F0"/>
                </a:solidFill>
                <a:latin typeface="Avenir Next"/>
              </a:rPr>
              <a:t>“There's one item on that boundary, and it's the vendor's to state so the bank doesn't over-promise it. Your access to the bank's evidence — which examiner pulled which confidential file, when, through the portal — that can be chain-bound on the bank's side, if the Department ever wants it. Not your workpapers. Just the fact of the access, against the bank's files. The specification has an access-trail primitive for it; it's the same mechanism the bank uses to record who inside the bank reads a privileged file. It means a year from now, if someone asks who saw a confidential customer record during this exam, there's an integrity-bound answer on the bank's side, independent of the bank's own say-so. — The vendor's position is that it's the Department's call whether to use it, and never the bank's.”</a:t>
            </a:r>
          </a:p>
        </p:txBody>
      </p:sp>
      <p:sp>
        <p:nvSpPr>
          <p:cNvPr id="3" name="TextBox 2"/>
          <p:cNvSpPr txBox="1"/>
          <p:nvPr/>
        </p:nvSpPr>
        <p:spPr>
          <a:xfrm>
            <a:off x="914400" y="5486400"/>
            <a:ext cx="10332720" cy="548640"/>
          </a:xfrm>
          <a:prstGeom prst="rect">
            <a:avLst/>
          </a:prstGeom>
          <a:noFill/>
        </p:spPr>
        <p:txBody>
          <a:bodyPr wrap="square">
            <a:spAutoFit/>
          </a:bodyPr>
          <a:lstStyle/>
          <a:p>
            <a:pPr algn="l"/>
            <a:r>
              <a:rPr sz="1400" b="0" i="0">
                <a:solidFill>
                  <a:srgbClr val="9EC9C8"/>
                </a:solidFill>
                <a:latin typeface="Avenir Next"/>
              </a:rPr>
              <a:t>— Dawn, MMPWorks vendor liaison  ·  Chapter 24, Success Bank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What the record carries — supervisory context</a:t>
            </a:r>
          </a:p>
        </p:txBody>
      </p:sp>
      <p:sp>
        <p:nvSpPr>
          <p:cNvPr id="3" name="TextBox 2"/>
          <p:cNvSpPr txBox="1"/>
          <p:nvPr/>
        </p:nvSpPr>
        <p:spPr>
          <a:xfrm>
            <a:off x="548640" y="886968"/>
            <a:ext cx="11064240" cy="502920"/>
          </a:xfrm>
          <a:prstGeom prst="rect">
            <a:avLst/>
          </a:prstGeom>
          <a:noFill/>
        </p:spPr>
        <p:txBody>
          <a:bodyPr wrap="square">
            <a:spAutoFit/>
          </a:bodyPr>
          <a:lstStyle/>
          <a:p>
            <a:pPr algn="l"/>
            <a:r>
              <a:rPr sz="1400" b="0" i="1">
                <a:solidFill>
                  <a:srgbClr val="6B7480"/>
                </a:solidFill>
                <a:latin typeface="Avenir Next"/>
              </a:rPr>
              <a:t>A small attribute family; integrity-bound, institution-asserted, and it travels with the record</a:t>
            </a:r>
          </a:p>
        </p:txBody>
      </p:sp>
      <p:sp>
        <p:nvSpPr>
          <p:cNvPr id="4" name="Rounded Rectangle 3"/>
          <p:cNvSpPr/>
          <p:nvPr/>
        </p:nvSpPr>
        <p:spPr>
          <a:xfrm>
            <a:off x="548640" y="1645920"/>
            <a:ext cx="6035040" cy="2286000"/>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48640" y="1645920"/>
            <a:ext cx="603504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SUPERVISORY CONTEXT  (audit.supervisory.*)</a:t>
            </a:r>
          </a:p>
        </p:txBody>
      </p:sp>
      <p:sp>
        <p:nvSpPr>
          <p:cNvPr id="6" name="TextBox 5"/>
          <p:cNvSpPr txBox="1"/>
          <p:nvPr/>
        </p:nvSpPr>
        <p:spPr>
          <a:xfrm>
            <a:off x="658368" y="1993392"/>
            <a:ext cx="5852159" cy="237744"/>
          </a:xfrm>
          <a:prstGeom prst="rect">
            <a:avLst/>
          </a:prstGeom>
          <a:noFill/>
        </p:spPr>
        <p:txBody>
          <a:bodyPr wrap="square">
            <a:spAutoFit/>
          </a:bodyPr>
          <a:lstStyle/>
          <a:p>
            <a:pPr algn="l"/>
            <a:r>
              <a:rPr sz="1050" b="0" i="0">
                <a:solidFill>
                  <a:srgbClr val="0E7C7B"/>
                </a:solidFill>
                <a:latin typeface="Menlo"/>
              </a:rPr>
              <a:t>audit.supervisory.charter_type        : state</a:t>
            </a:r>
          </a:p>
        </p:txBody>
      </p:sp>
      <p:sp>
        <p:nvSpPr>
          <p:cNvPr id="7" name="TextBox 6"/>
          <p:cNvSpPr txBox="1"/>
          <p:nvPr/>
        </p:nvSpPr>
        <p:spPr>
          <a:xfrm>
            <a:off x="658368" y="2231136"/>
            <a:ext cx="5852159" cy="237744"/>
          </a:xfrm>
          <a:prstGeom prst="rect">
            <a:avLst/>
          </a:prstGeom>
          <a:noFill/>
        </p:spPr>
        <p:txBody>
          <a:bodyPr wrap="square">
            <a:spAutoFit/>
          </a:bodyPr>
          <a:lstStyle/>
          <a:p>
            <a:pPr algn="l"/>
            <a:r>
              <a:rPr sz="1050" b="0" i="0">
                <a:solidFill>
                  <a:srgbClr val="0E7C7B"/>
                </a:solidFill>
                <a:latin typeface="Menlo"/>
              </a:rPr>
              <a:t>audit.supervisory.charter_authority   : tx_dob</a:t>
            </a:r>
          </a:p>
        </p:txBody>
      </p:sp>
      <p:sp>
        <p:nvSpPr>
          <p:cNvPr id="8" name="TextBox 7"/>
          <p:cNvSpPr txBox="1"/>
          <p:nvPr/>
        </p:nvSpPr>
        <p:spPr>
          <a:xfrm>
            <a:off x="658368" y="2468880"/>
            <a:ext cx="5852159" cy="237744"/>
          </a:xfrm>
          <a:prstGeom prst="rect">
            <a:avLst/>
          </a:prstGeom>
          <a:noFill/>
        </p:spPr>
        <p:txBody>
          <a:bodyPr wrap="square">
            <a:spAutoFit/>
          </a:bodyPr>
          <a:lstStyle/>
          <a:p>
            <a:pPr algn="l"/>
            <a:r>
              <a:rPr sz="1050" b="0" i="0">
                <a:solidFill>
                  <a:srgbClr val="0E7C7B"/>
                </a:solidFill>
                <a:latin typeface="Menlo"/>
              </a:rPr>
              <a:t>audit.supervisory.federal_prudential  : fdic</a:t>
            </a:r>
          </a:p>
        </p:txBody>
      </p:sp>
      <p:sp>
        <p:nvSpPr>
          <p:cNvPr id="9" name="TextBox 8"/>
          <p:cNvSpPr txBox="1"/>
          <p:nvPr/>
        </p:nvSpPr>
        <p:spPr>
          <a:xfrm>
            <a:off x="658368" y="2706624"/>
            <a:ext cx="5852159" cy="237744"/>
          </a:xfrm>
          <a:prstGeom prst="rect">
            <a:avLst/>
          </a:prstGeom>
          <a:noFill/>
        </p:spPr>
        <p:txBody>
          <a:bodyPr wrap="square">
            <a:spAutoFit/>
          </a:bodyPr>
          <a:lstStyle/>
          <a:p>
            <a:pPr algn="l"/>
            <a:r>
              <a:rPr sz="1050" b="0" i="0">
                <a:solidFill>
                  <a:srgbClr val="0E7C7B"/>
                </a:solidFill>
                <a:latin typeface="Menlo"/>
              </a:rPr>
              <a:t>audit.supervisory.dual_supervision    : true</a:t>
            </a:r>
          </a:p>
        </p:txBody>
      </p:sp>
      <p:sp>
        <p:nvSpPr>
          <p:cNvPr id="10" name="TextBox 9"/>
          <p:cNvSpPr txBox="1"/>
          <p:nvPr/>
        </p:nvSpPr>
        <p:spPr>
          <a:xfrm>
            <a:off x="658368" y="2944368"/>
            <a:ext cx="5852159" cy="237744"/>
          </a:xfrm>
          <a:prstGeom prst="rect">
            <a:avLst/>
          </a:prstGeom>
          <a:noFill/>
        </p:spPr>
        <p:txBody>
          <a:bodyPr wrap="square">
            <a:spAutoFit/>
          </a:bodyPr>
          <a:lstStyle/>
          <a:p>
            <a:pPr algn="l"/>
            <a:r>
              <a:rPr sz="1050" b="0" i="0">
                <a:solidFill>
                  <a:srgbClr val="1B2A41"/>
                </a:solidFill>
                <a:latin typeface="Menlo"/>
              </a:rPr>
              <a:t>── carried in the entry's attributes; MAC-covered ──</a:t>
            </a:r>
          </a:p>
        </p:txBody>
      </p:sp>
      <p:sp>
        <p:nvSpPr>
          <p:cNvPr id="11" name="TextBox 10"/>
          <p:cNvSpPr txBox="1"/>
          <p:nvPr/>
        </p:nvSpPr>
        <p:spPr>
          <a:xfrm>
            <a:off x="658368" y="3182111"/>
            <a:ext cx="5852159" cy="237744"/>
          </a:xfrm>
          <a:prstGeom prst="rect">
            <a:avLst/>
          </a:prstGeom>
          <a:noFill/>
        </p:spPr>
        <p:txBody>
          <a:bodyPr wrap="square">
            <a:spAutoFit/>
          </a:bodyPr>
          <a:lstStyle/>
          <a:p>
            <a:pPr algn="l"/>
            <a:r>
              <a:rPr sz="1050" b="0" i="0">
                <a:solidFill>
                  <a:srgbClr val="6B7480"/>
                </a:solidFill>
                <a:latin typeface="Menlo"/>
              </a:rPr>
              <a:t>epistemic posture: the chain proves the bank</a:t>
            </a:r>
          </a:p>
        </p:txBody>
      </p:sp>
      <p:sp>
        <p:nvSpPr>
          <p:cNvPr id="12" name="TextBox 11"/>
          <p:cNvSpPr txBox="1"/>
          <p:nvPr/>
        </p:nvSpPr>
        <p:spPr>
          <a:xfrm>
            <a:off x="658368" y="3419855"/>
            <a:ext cx="5852159" cy="237744"/>
          </a:xfrm>
          <a:prstGeom prst="rect">
            <a:avLst/>
          </a:prstGeom>
          <a:noFill/>
        </p:spPr>
        <p:txBody>
          <a:bodyPr wrap="square">
            <a:spAutoFit/>
          </a:bodyPr>
          <a:lstStyle/>
          <a:p>
            <a:pPr algn="l"/>
            <a:r>
              <a:rPr sz="1050" b="0" i="0">
                <a:solidFill>
                  <a:srgbClr val="6B7480"/>
                </a:solidFill>
                <a:latin typeface="Menlo"/>
              </a:rPr>
              <a:t>RECORDED this context and didn't alter it —</a:t>
            </a:r>
          </a:p>
        </p:txBody>
      </p:sp>
      <p:sp>
        <p:nvSpPr>
          <p:cNvPr id="13" name="TextBox 12"/>
          <p:cNvSpPr txBox="1"/>
          <p:nvPr/>
        </p:nvSpPr>
        <p:spPr>
          <a:xfrm>
            <a:off x="658368" y="3657599"/>
            <a:ext cx="5852159" cy="237744"/>
          </a:xfrm>
          <a:prstGeom prst="rect">
            <a:avLst/>
          </a:prstGeom>
          <a:noFill/>
        </p:spPr>
        <p:txBody>
          <a:bodyPr wrap="square">
            <a:spAutoFit/>
          </a:bodyPr>
          <a:lstStyle/>
          <a:p>
            <a:pPr algn="l"/>
            <a:r>
              <a:rPr sz="1050" b="0" i="0">
                <a:solidFill>
                  <a:srgbClr val="6B7480"/>
                </a:solidFill>
                <a:latin typeface="Menlo"/>
              </a:rPr>
              <a:t>not that it is metaphysically true (§1.2)</a:t>
            </a:r>
          </a:p>
        </p:txBody>
      </p:sp>
      <p:sp>
        <p:nvSpPr>
          <p:cNvPr id="14" name="TextBox 13"/>
          <p:cNvSpPr txBox="1"/>
          <p:nvPr/>
        </p:nvSpPr>
        <p:spPr>
          <a:xfrm>
            <a:off x="6903720" y="1828800"/>
            <a:ext cx="4754880" cy="3291840"/>
          </a:xfrm>
          <a:prstGeom prst="rect">
            <a:avLst/>
          </a:prstGeom>
          <a:noFill/>
        </p:spPr>
        <p:txBody>
          <a:bodyPr wrap="square">
            <a:spAutoFit/>
          </a:bodyPr>
          <a:lstStyle/>
          <a:p>
            <a:pPr algn="l"/>
            <a:r>
              <a:rPr sz="1300" b="0" i="0">
                <a:solidFill>
                  <a:srgbClr val="1B2A41"/>
                </a:solidFill>
                <a:latin typeface="Avenir Next"/>
              </a:rPr>
              <a:t>Why it exists: a record produced under a</a:t>
            </a:r>
          </a:p>
          <a:p>
            <a:pPr algn="l"/>
            <a:r>
              <a:rPr sz="1300" b="0" i="0">
                <a:solidFill>
                  <a:srgbClr val="1B2A41"/>
                </a:solidFill>
                <a:latin typeface="Avenir Next"/>
              </a:rPr>
              <a:t>Texas state charter, dual-supervised, does</a:t>
            </a:r>
          </a:p>
          <a:p>
            <a:pPr algn="l"/>
            <a:r>
              <a:rPr sz="1300" b="0" i="0">
                <a:solidFill>
                  <a:srgbClr val="1B2A41"/>
                </a:solidFill>
                <a:latin typeface="Avenir Next"/>
              </a:rPr>
              <a:t>not lose that context when it travels — to</a:t>
            </a:r>
          </a:p>
          <a:p>
            <a:pPr algn="l"/>
            <a:r>
              <a:rPr sz="1300" b="0" i="0">
                <a:solidFill>
                  <a:srgbClr val="1B2A41"/>
                </a:solidFill>
                <a:latin typeface="Avenir Next"/>
              </a:rPr>
              <a:t>the FDIC next cycle, to litigation, to an</a:t>
            </a:r>
          </a:p>
          <a:p>
            <a:pPr algn="l"/>
            <a:r>
              <a:rPr sz="1300" b="0" i="0">
                <a:solidFill>
                  <a:srgbClr val="1B2A41"/>
                </a:solidFill>
                <a:latin typeface="Avenir Next"/>
              </a:rPr>
              <a:t>acquirer's chain at M&amp;A close.</a:t>
            </a:r>
          </a:p>
          <a:p>
            <a:pPr algn="l"/>
          </a:p>
          <a:p>
            <a:pPr algn="l"/>
            <a:r>
              <a:rPr sz="1300" b="0" i="0">
                <a:solidFill>
                  <a:srgbClr val="1B2A41"/>
                </a:solidFill>
                <a:latin typeface="Avenir Next"/>
              </a:rPr>
              <a:t>Same honesty boundary as the incident</a:t>
            </a:r>
          </a:p>
          <a:p>
            <a:pPr algn="l"/>
            <a:r>
              <a:rPr sz="1300" b="0" i="0">
                <a:solidFill>
                  <a:srgbClr val="1B2A41"/>
                </a:solidFill>
                <a:latin typeface="Avenir Next"/>
              </a:rPr>
              <a:t>determination: recorded-and-unaltered is</a:t>
            </a:r>
          </a:p>
          <a:p>
            <a:pPr algn="l"/>
            <a:r>
              <a:rPr sz="1300" b="0" i="0">
                <a:solidFill>
                  <a:srgbClr val="1B2A41"/>
                </a:solidFill>
                <a:latin typeface="Avenir Next"/>
              </a:rPr>
              <a:t>the claim. Presentation-only in verifier</a:t>
            </a:r>
          </a:p>
          <a:p>
            <a:pPr algn="l"/>
            <a:r>
              <a:rPr sz="1300" b="0" i="0">
                <a:solidFill>
                  <a:srgbClr val="1B2A41"/>
                </a:solidFill>
                <a:latin typeface="Avenir Next"/>
              </a:rPr>
              <a:t>output — it can never gate a verdict.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The profile changes the words — never the verdict</a:t>
            </a:r>
          </a:p>
        </p:txBody>
      </p:sp>
      <p:sp>
        <p:nvSpPr>
          <p:cNvPr id="3" name="TextBox 2"/>
          <p:cNvSpPr txBox="1"/>
          <p:nvPr/>
        </p:nvSpPr>
        <p:spPr>
          <a:xfrm>
            <a:off x="548640" y="886968"/>
            <a:ext cx="11064240" cy="502920"/>
          </a:xfrm>
          <a:prstGeom prst="rect">
            <a:avLst/>
          </a:prstGeom>
          <a:noFill/>
        </p:spPr>
        <p:txBody>
          <a:bodyPr wrap="square">
            <a:spAutoFit/>
          </a:bodyPr>
          <a:lstStyle/>
          <a:p>
            <a:pPr algn="l"/>
            <a:r>
              <a:rPr sz="1400" b="0" i="1">
                <a:solidFill>
                  <a:srgbClr val="6B7480"/>
                </a:solidFill>
                <a:latin typeface="Avenir Next"/>
              </a:rPr>
              <a:t>Same chain, two profiles: framing differs, the accept/reject math cannot move</a:t>
            </a:r>
          </a:p>
        </p:txBody>
      </p:sp>
      <p:sp>
        <p:nvSpPr>
          <p:cNvPr id="4" name="Rounded Rectangle 3"/>
          <p:cNvSpPr/>
          <p:nvPr/>
        </p:nvSpPr>
        <p:spPr>
          <a:xfrm>
            <a:off x="548640" y="1737360"/>
            <a:ext cx="5394960" cy="1335024"/>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48640" y="1737360"/>
            <a:ext cx="539496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RUN 1   ffiec-verify  (default profile)</a:t>
            </a:r>
          </a:p>
        </p:txBody>
      </p:sp>
      <p:sp>
        <p:nvSpPr>
          <p:cNvPr id="6" name="TextBox 5"/>
          <p:cNvSpPr txBox="1"/>
          <p:nvPr/>
        </p:nvSpPr>
        <p:spPr>
          <a:xfrm>
            <a:off x="658368" y="2084831"/>
            <a:ext cx="5212080" cy="237744"/>
          </a:xfrm>
          <a:prstGeom prst="rect">
            <a:avLst/>
          </a:prstGeom>
          <a:noFill/>
        </p:spPr>
        <p:txBody>
          <a:bodyPr wrap="square">
            <a:spAutoFit/>
          </a:bodyPr>
          <a:lstStyle/>
          <a:p>
            <a:pPr algn="l"/>
            <a:r>
              <a:rPr sz="1050" b="0" i="0">
                <a:solidFill>
                  <a:srgbClr val="1B2A41"/>
                </a:solidFill>
                <a:latin typeface="Menlo"/>
              </a:rPr>
              <a:t>chain      : tenant TX-SB-001, 2025-05-23</a:t>
            </a:r>
          </a:p>
        </p:txBody>
      </p:sp>
      <p:sp>
        <p:nvSpPr>
          <p:cNvPr id="7" name="TextBox 6"/>
          <p:cNvSpPr txBox="1"/>
          <p:nvPr/>
        </p:nvSpPr>
        <p:spPr>
          <a:xfrm>
            <a:off x="658368" y="2322576"/>
            <a:ext cx="5212080" cy="237744"/>
          </a:xfrm>
          <a:prstGeom prst="rect">
            <a:avLst/>
          </a:prstGeom>
          <a:noFill/>
        </p:spPr>
        <p:txBody>
          <a:bodyPr wrap="square">
            <a:spAutoFit/>
          </a:bodyPr>
          <a:lstStyle/>
          <a:p>
            <a:pPr algn="l"/>
            <a:r>
              <a:rPr sz="1050" b="0" i="0">
                <a:solidFill>
                  <a:srgbClr val="0E7C7B"/>
                </a:solidFill>
                <a:latin typeface="Menlo"/>
              </a:rPr>
              <a:t>verdict    : PASS (structural)</a:t>
            </a:r>
          </a:p>
        </p:txBody>
      </p:sp>
      <p:sp>
        <p:nvSpPr>
          <p:cNvPr id="8" name="TextBox 7"/>
          <p:cNvSpPr txBox="1"/>
          <p:nvPr/>
        </p:nvSpPr>
        <p:spPr>
          <a:xfrm>
            <a:off x="658368" y="2560320"/>
            <a:ext cx="5212080" cy="237744"/>
          </a:xfrm>
          <a:prstGeom prst="rect">
            <a:avLst/>
          </a:prstGeom>
          <a:noFill/>
        </p:spPr>
        <p:txBody>
          <a:bodyPr wrap="square">
            <a:spAutoFit/>
          </a:bodyPr>
          <a:lstStyle/>
          <a:p>
            <a:pPr algn="l"/>
            <a:r>
              <a:rPr sz="1050" b="0" i="0">
                <a:solidFill>
                  <a:srgbClr val="0E7C7B"/>
                </a:solidFill>
                <a:latin typeface="Menlo"/>
              </a:rPr>
              <a:t>exit code  : 0</a:t>
            </a:r>
          </a:p>
        </p:txBody>
      </p:sp>
      <p:sp>
        <p:nvSpPr>
          <p:cNvPr id="9" name="TextBox 8"/>
          <p:cNvSpPr txBox="1"/>
          <p:nvPr/>
        </p:nvSpPr>
        <p:spPr>
          <a:xfrm>
            <a:off x="658368" y="2798063"/>
            <a:ext cx="5212080" cy="237744"/>
          </a:xfrm>
          <a:prstGeom prst="rect">
            <a:avLst/>
          </a:prstGeom>
          <a:noFill/>
        </p:spPr>
        <p:txBody>
          <a:bodyPr wrap="square">
            <a:spAutoFit/>
          </a:bodyPr>
          <a:lstStyle/>
          <a:p>
            <a:pPr algn="l"/>
            <a:r>
              <a:rPr sz="1050" b="0" i="0">
                <a:solidFill>
                  <a:srgbClr val="1B2A41"/>
                </a:solidFill>
                <a:latin typeface="Menlo"/>
              </a:rPr>
              <a:t>framing    : federal interagency vocabulary</a:t>
            </a:r>
          </a:p>
        </p:txBody>
      </p:sp>
      <p:sp>
        <p:nvSpPr>
          <p:cNvPr id="10" name="Rounded Rectangle 9"/>
          <p:cNvSpPr/>
          <p:nvPr/>
        </p:nvSpPr>
        <p:spPr>
          <a:xfrm>
            <a:off x="6263640" y="1737360"/>
            <a:ext cx="5394960" cy="1572768"/>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63640" y="1737360"/>
            <a:ext cx="539496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RUN 2   ffiec-verify --profile tx-dob</a:t>
            </a:r>
          </a:p>
        </p:txBody>
      </p:sp>
      <p:sp>
        <p:nvSpPr>
          <p:cNvPr id="12" name="TextBox 11"/>
          <p:cNvSpPr txBox="1"/>
          <p:nvPr/>
        </p:nvSpPr>
        <p:spPr>
          <a:xfrm>
            <a:off x="6373368" y="2084831"/>
            <a:ext cx="5212080" cy="237744"/>
          </a:xfrm>
          <a:prstGeom prst="rect">
            <a:avLst/>
          </a:prstGeom>
          <a:noFill/>
        </p:spPr>
        <p:txBody>
          <a:bodyPr wrap="square">
            <a:spAutoFit/>
          </a:bodyPr>
          <a:lstStyle/>
          <a:p>
            <a:pPr algn="l"/>
            <a:r>
              <a:rPr sz="1050" b="0" i="0">
                <a:solidFill>
                  <a:srgbClr val="1B2A41"/>
                </a:solidFill>
                <a:latin typeface="Menlo"/>
              </a:rPr>
              <a:t>chain      : tenant TX-SB-001, 2025-05-23  (SAME)</a:t>
            </a:r>
          </a:p>
        </p:txBody>
      </p:sp>
      <p:sp>
        <p:nvSpPr>
          <p:cNvPr id="13" name="TextBox 12"/>
          <p:cNvSpPr txBox="1"/>
          <p:nvPr/>
        </p:nvSpPr>
        <p:spPr>
          <a:xfrm>
            <a:off x="6373368" y="2322576"/>
            <a:ext cx="5212080" cy="237744"/>
          </a:xfrm>
          <a:prstGeom prst="rect">
            <a:avLst/>
          </a:prstGeom>
          <a:noFill/>
        </p:spPr>
        <p:txBody>
          <a:bodyPr wrap="square">
            <a:spAutoFit/>
          </a:bodyPr>
          <a:lstStyle/>
          <a:p>
            <a:pPr algn="l"/>
            <a:r>
              <a:rPr sz="1050" b="0" i="0">
                <a:solidFill>
                  <a:srgbClr val="0E7C7B"/>
                </a:solidFill>
                <a:latin typeface="Menlo"/>
              </a:rPr>
              <a:t>verdict    : PASS (structural)             (SAME)</a:t>
            </a:r>
          </a:p>
        </p:txBody>
      </p:sp>
      <p:sp>
        <p:nvSpPr>
          <p:cNvPr id="14" name="TextBox 13"/>
          <p:cNvSpPr txBox="1"/>
          <p:nvPr/>
        </p:nvSpPr>
        <p:spPr>
          <a:xfrm>
            <a:off x="6373368" y="2560320"/>
            <a:ext cx="5212080" cy="237744"/>
          </a:xfrm>
          <a:prstGeom prst="rect">
            <a:avLst/>
          </a:prstGeom>
          <a:noFill/>
        </p:spPr>
        <p:txBody>
          <a:bodyPr wrap="square">
            <a:spAutoFit/>
          </a:bodyPr>
          <a:lstStyle/>
          <a:p>
            <a:pPr algn="l"/>
            <a:r>
              <a:rPr sz="1050" b="0" i="0">
                <a:solidFill>
                  <a:srgbClr val="0E7C7B"/>
                </a:solidFill>
                <a:latin typeface="Menlo"/>
              </a:rPr>
              <a:t>exit code  : 0                             (SAME)</a:t>
            </a:r>
          </a:p>
        </p:txBody>
      </p:sp>
      <p:sp>
        <p:nvSpPr>
          <p:cNvPr id="15" name="TextBox 14"/>
          <p:cNvSpPr txBox="1"/>
          <p:nvPr/>
        </p:nvSpPr>
        <p:spPr>
          <a:xfrm>
            <a:off x="6373368" y="2798063"/>
            <a:ext cx="5212080" cy="237744"/>
          </a:xfrm>
          <a:prstGeom prst="rect">
            <a:avLst/>
          </a:prstGeom>
          <a:noFill/>
        </p:spPr>
        <p:txBody>
          <a:bodyPr wrap="square">
            <a:spAutoFit/>
          </a:bodyPr>
          <a:lstStyle/>
          <a:p>
            <a:pPr algn="l"/>
            <a:r>
              <a:rPr sz="1050" b="0" i="0">
                <a:solidFill>
                  <a:srgbClr val="C99A2E"/>
                </a:solidFill>
                <a:latin typeface="Menlo"/>
              </a:rPr>
              <a:t>framing    : names charter authority; prints</a:t>
            </a:r>
          </a:p>
        </p:txBody>
      </p:sp>
      <p:sp>
        <p:nvSpPr>
          <p:cNvPr id="16" name="TextBox 15"/>
          <p:cNvSpPr txBox="1"/>
          <p:nvPr/>
        </p:nvSpPr>
        <p:spPr>
          <a:xfrm>
            <a:off x="6373368" y="3035807"/>
            <a:ext cx="5212080" cy="237744"/>
          </a:xfrm>
          <a:prstGeom prst="rect">
            <a:avLst/>
          </a:prstGeom>
          <a:noFill/>
        </p:spPr>
        <p:txBody>
          <a:bodyPr wrap="square">
            <a:spAutoFit/>
          </a:bodyPr>
          <a:lstStyle/>
          <a:p>
            <a:pPr algn="l"/>
            <a:r>
              <a:rPr sz="1050" b="0" i="0">
                <a:solidFill>
                  <a:srgbClr val="C99A2E"/>
                </a:solidFill>
                <a:latin typeface="Menlo"/>
              </a:rPr>
              <a:t>             7 TAC §3.24 on the incident notice</a:t>
            </a:r>
          </a:p>
        </p:txBody>
      </p:sp>
      <p:sp>
        <p:nvSpPr>
          <p:cNvPr id="17" name="TextBox 16"/>
          <p:cNvSpPr txBox="1"/>
          <p:nvPr/>
        </p:nvSpPr>
        <p:spPr>
          <a:xfrm>
            <a:off x="548640" y="4114800"/>
            <a:ext cx="11155680" cy="1828800"/>
          </a:xfrm>
          <a:prstGeom prst="rect">
            <a:avLst/>
          </a:prstGeom>
          <a:noFill/>
        </p:spPr>
        <p:txBody>
          <a:bodyPr wrap="square">
            <a:spAutoFit/>
          </a:bodyPr>
          <a:lstStyle/>
          <a:p>
            <a:pPr algn="l"/>
            <a:r>
              <a:rPr sz="1500" b="0" i="0">
                <a:solidFill>
                  <a:srgbClr val="1B2A41"/>
                </a:solidFill>
                <a:latin typeface="Avenir Next"/>
              </a:rPr>
              <a:t>If the profile could move a verdict, the same chain would verify differently for a Texas examiner than</a:t>
            </a:r>
          </a:p>
          <a:p>
            <a:pPr algn="l"/>
            <a:r>
              <a:rPr sz="1500" b="0" i="0">
                <a:solidFill>
                  <a:srgbClr val="1B2A41"/>
                </a:solidFill>
                <a:latin typeface="Avenir Next"/>
              </a:rPr>
              <a:t>for a federal one — and the guarantee that two verifiers walking the same chain reach the same verdict</a:t>
            </a:r>
          </a:p>
          <a:p>
            <a:pPr algn="l"/>
            <a:r>
              <a:rPr sz="1500" b="0" i="0">
                <a:solidFill>
                  <a:srgbClr val="1B2A41"/>
                </a:solidFill>
                <a:latin typeface="Avenir Next"/>
              </a:rPr>
              <a:t>would be dead. A test asserts the invariance: render under every profile, the integrity verdict is</a:t>
            </a:r>
          </a:p>
          <a:p>
            <a:pPr algn="l"/>
            <a:r>
              <a:rPr sz="1500" b="0" i="0">
                <a:solidFill>
                  <a:srgbClr val="1B2A41"/>
                </a:solidFill>
                <a:latin typeface="Avenir Next"/>
              </a:rPr>
              <a:t>byte-identical. You can run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914400" y="822960"/>
            <a:ext cx="10332720" cy="4754880"/>
          </a:xfrm>
          <a:prstGeom prst="rect">
            <a:avLst/>
          </a:prstGeom>
          <a:noFill/>
        </p:spPr>
        <p:txBody>
          <a:bodyPr wrap="square">
            <a:spAutoFit/>
          </a:bodyPr>
          <a:lstStyle/>
          <a:p>
            <a:pPr algn="l"/>
            <a:r>
              <a:rPr sz="1700" b="0" i="1">
                <a:solidFill>
                  <a:srgbClr val="FAF7F0"/>
                </a:solidFill>
                <a:latin typeface="Avenir Next"/>
              </a:rPr>
              <a:t>“The supervisory context is a small attribute family the record carries — that this artifact was produced under a Texas state charter, dual-supervised, FDIC as federal prudential supervisor. Same boundary as the incident determination: the chain proves the bank recorded that context and didn't alter it, not that it's metaphysically true. It means a record doesn't lose its supervisory context when it travels. — The profile flag, tx-dob, changes the vocabulary and the framing. Which markers the report surfaces, that it prints the 7 TAC §3.24 reference on the incident notice, that it names the charter authority. It does not change a single accept-or-reject decision, and it cannot move a verdict or an exit code. If it could, the same chain would verify differently for a Texas examiner than for a federal one, and the guarantee that two verifiers walking the same chain reach the same verdict would be dead. Run the same chain under the federal profile and the Texas profile — same PASS, same exit code, different words. There's a test that asserts exactly that, and you can run it.”</a:t>
            </a:r>
          </a:p>
        </p:txBody>
      </p:sp>
      <p:sp>
        <p:nvSpPr>
          <p:cNvPr id="3" name="TextBox 2"/>
          <p:cNvSpPr txBox="1"/>
          <p:nvPr/>
        </p:nvSpPr>
        <p:spPr>
          <a:xfrm>
            <a:off x="914400" y="5715000"/>
            <a:ext cx="10332720" cy="548640"/>
          </a:xfrm>
          <a:prstGeom prst="rect">
            <a:avLst/>
          </a:prstGeom>
          <a:noFill/>
        </p:spPr>
        <p:txBody>
          <a:bodyPr wrap="square">
            <a:spAutoFit/>
          </a:bodyPr>
          <a:lstStyle/>
          <a:p>
            <a:pPr algn="l"/>
            <a:r>
              <a:rPr sz="1400" b="0" i="0">
                <a:solidFill>
                  <a:srgbClr val="9EC9C8"/>
                </a:solidFill>
                <a:latin typeface="Avenir Next"/>
              </a:rPr>
              <a:t>— Dawn, MMPWorks vendor liaison  ·  Chapter 24, Success Bank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Reference</a:t>
            </a:r>
          </a:p>
        </p:txBody>
      </p:sp>
      <p:sp>
        <p:nvSpPr>
          <p:cNvPr id="3" name="TextBox 2"/>
          <p:cNvSpPr txBox="1"/>
          <p:nvPr/>
        </p:nvSpPr>
        <p:spPr>
          <a:xfrm>
            <a:off x="822960" y="1645920"/>
            <a:ext cx="10789920" cy="4206240"/>
          </a:xfrm>
          <a:prstGeom prst="rect">
            <a:avLst/>
          </a:prstGeom>
          <a:noFill/>
        </p:spPr>
        <p:txBody>
          <a:bodyPr wrap="square">
            <a:spAutoFit/>
          </a:bodyPr>
          <a:lstStyle/>
          <a:p>
            <a:pPr algn="l"/>
            <a:r>
              <a:rPr sz="1500" b="0" i="0">
                <a:solidFill>
                  <a:srgbClr val="1B2A41"/>
                </a:solidFill>
                <a:latin typeface="Avenir Next"/>
              </a:rPr>
              <a:t>Spec (public, ffiec-public / chain-of-custody 0.3.0):</a:t>
            </a:r>
          </a:p>
          <a:p>
            <a:pPr algn="l"/>
            <a:r>
              <a:rPr sz="1500" b="0" i="0">
                <a:solidFill>
                  <a:srgbClr val="1B2A41"/>
                </a:solidFill>
                <a:latin typeface="Avenir Next"/>
              </a:rPr>
              <a:t>    access-trail primitive — insider/examiner file-access events on the operational chain</a:t>
            </a:r>
          </a:p>
          <a:p>
            <a:pPr algn="l"/>
            <a:r>
              <a:rPr sz="1500" b="0" i="0">
                <a:solidFill>
                  <a:srgbClr val="1B2A41"/>
                </a:solidFill>
                <a:latin typeface="Avenir Next"/>
              </a:rPr>
              <a:t>    §14.13 — audit.supervisory.* supervisory-context provenance family</a:t>
            </a:r>
          </a:p>
          <a:p>
            <a:pPr algn="l"/>
            <a:r>
              <a:rPr sz="1500" b="0" i="0">
                <a:solidFill>
                  <a:srgbClr val="1B2A41"/>
                </a:solidFill>
                <a:latin typeface="Avenir Next"/>
              </a:rPr>
              <a:t>    §1.2 — epistemic scope: recorded-and-unaltered vs. true; institution-asserted context</a:t>
            </a:r>
          </a:p>
          <a:p>
            <a:pPr algn="l"/>
            <a:r>
              <a:rPr sz="1500" b="0" i="0">
                <a:solidFill>
                  <a:srgbClr val="1B2A41"/>
                </a:solidFill>
                <a:latin typeface="Avenir Next"/>
              </a:rPr>
              <a:t>    §10.85 — artifact retrieval index (resolving the accessed file's digest to its bytes)</a:t>
            </a:r>
          </a:p>
          <a:p>
            <a:pPr algn="l"/>
            <a:r>
              <a:rPr sz="1500" b="0" i="0">
                <a:solidFill>
                  <a:srgbClr val="1B2A41"/>
                </a:solidFill>
                <a:latin typeface="Avenir Next"/>
              </a:rPr>
              <a:t>    §7 — the verifier procedure; profile framing sits ABOVE the verdict, never inside it</a:t>
            </a:r>
          </a:p>
          <a:p>
            <a:pPr algn="l"/>
          </a:p>
          <a:p>
            <a:pPr algn="l"/>
            <a:r>
              <a:rPr sz="1500" b="0" i="0">
                <a:solidFill>
                  <a:srgbClr val="1B2A41"/>
                </a:solidFill>
                <a:latin typeface="Avenir Next"/>
              </a:rPr>
              <a:t>Reference verifier: ffiec repo — ffiec-verify (profiles: ffiec, tx-dob; invariance test in the profile package)</a:t>
            </a:r>
          </a:p>
          <a:p>
            <a:pPr algn="l"/>
          </a:p>
          <a:p>
            <a:pPr algn="l"/>
            <a:r>
              <a:rPr sz="1500" b="0" i="0">
                <a:solidFill>
                  <a:srgbClr val="1B2A41"/>
                </a:solidFill>
                <a:latin typeface="Avenir Next"/>
              </a:rPr>
              <a:t>Companion decks: merkle-seal-chain.pptx · chain-walk-reconstruction.pptx (same example data)</a:t>
            </a:r>
          </a:p>
          <a:p>
            <a:pPr algn="l"/>
            <a:r>
              <a:rPr sz="1500" b="0" i="0">
                <a:solidFill>
                  <a:srgbClr val="1B2A41"/>
                </a:solidFill>
                <a:latin typeface="Avenir Next"/>
              </a:rPr>
              <a:t>Narrative: prose/compliance/novel/24-success-bank.md (Dawn's Day-1 afternoon scene)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