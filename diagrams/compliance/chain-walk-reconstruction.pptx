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AF7F0"/>
                </a:solidFill>
                <a:latin typeface="Avenir Next"/>
              </a:rPr>
              <a:t>Walking the Chain Backward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9EC9C8"/>
                </a:solidFill>
                <a:latin typeface="Avenir Next"/>
              </a:rPr>
              <a:t>Reconstructing full lineage from a single record — May 23, 2025 →  genesis</a:t>
            </a:r>
          </a:p>
          <a:p>
            <a:pPr algn="l"/>
            <a:r>
              <a:rPr sz="1900" b="0" i="0">
                <a:solidFill>
                  <a:srgbClr val="9EC9C8"/>
                </a:solidFill>
                <a:latin typeface="Avenir Next"/>
              </a:rPr>
              <a:t>with the data structures shown at every 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480"/>
                </a:solidFill>
                <a:latin typeface="Avenir Next"/>
              </a:rPr>
              <a:t>Herald.Documentation — diagrams/compliance — companion to merkle-seal-chain.pptx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1"/>
                </a:solidFill>
                <a:latin typeface="Avenir Next"/>
              </a:rPr>
              <a:t>Step 0 — the record you start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480"/>
                </a:solidFill>
                <a:latin typeface="Avenir Next"/>
              </a:rPr>
              <a:t>An artifact and the chain entry that committed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4206240" cy="1810512"/>
          </a:xfrm>
          <a:prstGeom prst="roundRect">
            <a:avLst/>
          </a:prstGeom>
          <a:solidFill>
            <a:srgbClr val="FAF7F0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4206240" cy="310896"/>
          </a:xfrm>
          <a:prstGeom prst="roundRect">
            <a:avLst/>
          </a:prstGeom>
          <a:solidFill>
            <a:srgbClr val="1B2A41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AF7F0"/>
                </a:solidFill>
                <a:latin typeface="Menlo"/>
              </a:rPr>
              <a:t>ARTIFACT  (loan file, May 23 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01952"/>
            <a:ext cx="40233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doc_id        : LN-2025-088231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139696"/>
            <a:ext cx="40233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type          : loan_file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77439"/>
            <a:ext cx="40233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borrower      : (bank record)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15183"/>
            <a:ext cx="40233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balance       : $214,309.00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852927"/>
            <a:ext cx="40233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stored_at     : object store, WORM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090671"/>
            <a:ext cx="40233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bytes         : 1,482,003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37744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E7C7B"/>
                </a:solidFill>
                <a:latin typeface="Avenir Next"/>
              </a:rPr>
              <a:t>hash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83480" y="2743200"/>
            <a:ext cx="1143000" cy="0"/>
          </a:xfrm>
          <a:prstGeom prst="line">
            <a:avLst/>
          </a:prstGeom>
          <a:ln w="25400">
            <a:solidFill>
              <a:srgbClr val="0E7C7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17920" y="1554480"/>
            <a:ext cx="5303520" cy="2048256"/>
          </a:xfrm>
          <a:prstGeom prst="roundRect">
            <a:avLst/>
          </a:prstGeom>
          <a:solidFill>
            <a:srgbClr val="FAF7F0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5303520" cy="310896"/>
          </a:xfrm>
          <a:prstGeom prst="roundRect">
            <a:avLst/>
          </a:prstGeom>
          <a:solidFill>
            <a:srgbClr val="1B2A41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AF7F0"/>
                </a:solidFill>
                <a:latin typeface="Menlo"/>
              </a:rPr>
              <a:t>CHAIN ENTRY  E-2025-05-23-0412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90195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entry_id       : E-2025-05-23-0412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13969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ts             : 2025-05-23T14:07:31Z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377439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E7C7B"/>
                </a:solidFill>
                <a:latin typeface="Menlo"/>
              </a:rPr>
              <a:t>artifact_hash  : sha256:7c19…e2a4   ◄ commits the loan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615183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attributes     : audit.artifact.kind=loan_file 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852927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9A2E"/>
                </a:solidFill>
                <a:latin typeface="Menlo"/>
              </a:rPr>
              <a:t>prev_entry_mac : 5d81…e903          ◄ link to entry 0411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3090671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key_id         : ikm-2025-Q2-07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328415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E7C7B"/>
                </a:solidFill>
                <a:latin typeface="Menlo"/>
              </a:rPr>
              <a:t>mac            : b44a…91c7          ◄ this entry's keyed hash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37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A41"/>
                </a:solidFill>
                <a:latin typeface="Avenir Next"/>
              </a:rPr>
              <a:t>The entry is the unit of the chain. Three fields do the work:  artifact_hash binds the record's bytes;</a:t>
            </a:r>
          </a:p>
          <a:p>
            <a:pPr algn="l"/>
            <a:r>
              <a:rPr sz="1500" b="0" i="0">
                <a:solidFill>
                  <a:srgbClr val="1B2A41"/>
                </a:solidFill>
                <a:latin typeface="Avenir Next"/>
              </a:rPr>
              <a:t>prev_entry_mac binds the chain's past;  mac authenticates this entry under a registered key (IKM).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1"/>
                </a:solidFill>
                <a:latin typeface="Avenir Next"/>
              </a:rPr>
              <a:t>Step 0.5 — finding the bytes: the artifact retrieval index (§10.85)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480"/>
                </a:solidFill>
                <a:latin typeface="Avenir Next"/>
              </a:rPr>
              <a:t>The entry binds a digest, not a location. Five years on, the index is how you find the bytes without re-hashing the estate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5577840" cy="2286000"/>
          </a:xfrm>
          <a:prstGeom prst="roundRect">
            <a:avLst/>
          </a:prstGeom>
          <a:solidFill>
            <a:srgbClr val="FAF7F0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5577840" cy="310896"/>
          </a:xfrm>
          <a:prstGeom prst="roundRect">
            <a:avLst/>
          </a:prstGeom>
          <a:solidFill>
            <a:srgbClr val="1B2A41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AF7F0"/>
                </a:solidFill>
                <a:latin typeface="Menlo"/>
              </a:rPr>
              <a:t>RETRIEVAL INDEX ENTRY  (audit.artifact_index.*)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993392"/>
            <a:ext cx="53949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9A2E"/>
                </a:solidFill>
                <a:latin typeface="Menlo"/>
              </a:rPr>
              <a:t>key       : (tenant_id, run_id, seq) + digest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231136"/>
            <a:ext cx="53949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            TX-SB-001 / R-2025-0523 / 0412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468880"/>
            <a:ext cx="53949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E7C7B"/>
                </a:solidFill>
                <a:latin typeface="Menlo"/>
              </a:rPr>
              <a:t>digest    : sha256:7c19…e2a4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706624"/>
            <a:ext cx="53949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doc_id    : LN-2025-088231   ◄ business attrs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944368"/>
            <a:ext cx="53949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kind      : loan_file             disambiguate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182111"/>
            <a:ext cx="53949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locators  : s3://evidence-worm/7c/19/…e2a4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419855"/>
            <a:ext cx="53949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480"/>
                </a:solidFill>
                <a:latin typeface="Menlo"/>
              </a:rPr>
              <a:t>            (locator = convenience; digest = truth)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657599"/>
            <a:ext cx="53949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shape     : chained entry (Shape 1) or attested (Shape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Keyed by digest PLUS the chain key —</a:t>
            </a:r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never bare digest. (tenant, run, seq) is</a:t>
            </a:r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unique by construction, so even a</a:t>
            </a:r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hypothetical hash collision resolves to</a:t>
            </a:r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the correct artifact.</a:t>
            </a:r>
          </a:p>
          <a:p>
            <a:pPr algn="l"/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The index itself is integrity-bound:</a:t>
            </a:r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its entries ride the operational chain</a:t>
            </a:r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(MAC'd + sealed like everything else).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72000"/>
            <a:ext cx="11155680" cy="1335024"/>
          </a:xfrm>
          <a:prstGeom prst="roundRect">
            <a:avLst/>
          </a:prstGeom>
          <a:solidFill>
            <a:srgbClr val="FAF7F0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4572000"/>
            <a:ext cx="11155680" cy="310896"/>
          </a:xfrm>
          <a:prstGeom prst="roundRect">
            <a:avLst/>
          </a:prstGeom>
          <a:solidFill>
            <a:srgbClr val="1B2A41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AF7F0"/>
                </a:solidFill>
                <a:latin typeface="Menlo"/>
              </a:rPr>
              <a:t>RESOLUTION OUTCOMES  (four, each means something different)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919472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E7C7B"/>
                </a:solidFill>
                <a:latin typeface="Menlo"/>
              </a:rPr>
              <a:t>resolved            : bytes fetched, sha256(bytes) == digest  ✓  self-proving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157216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disposed            : chain-bound chain.artifact_disposed event exists (dated OUTSIDE retention window)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394959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32D2D"/>
                </a:solidFill>
                <a:latin typeface="Menlo"/>
              </a:rPr>
              <a:t>retention failure   : absent with NO disposal event — a finding (§10.9 floors)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5632703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32D2D"/>
                </a:solidFill>
                <a:latin typeface="Menlo"/>
              </a:rPr>
              <a:t>integrity failure   : bytes fetched but re-hash ≠ digest — a §7-class break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B7480"/>
                </a:solidFill>
                <a:latin typeface="Avenir Next"/>
              </a:rPr>
              <a:t>A mandatory periodic resolvability sweep (audit.artifact_index.sweep) rides the chain — losses surface on a clock, not by luck.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1"/>
                </a:solidFill>
                <a:latin typeface="Avenir Next"/>
              </a:rPr>
              <a:t>Steps 1-2 — follow prev_entry_mac backward, verifying each 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480"/>
                </a:solidFill>
                <a:latin typeface="Avenir Next"/>
              </a:rPr>
              <a:t>Each entry names its parent's mac; recompute and compare at every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1417320"/>
            <a:ext cx="3657600" cy="1335024"/>
          </a:xfrm>
          <a:prstGeom prst="roundRect">
            <a:avLst/>
          </a:prstGeom>
          <a:solidFill>
            <a:srgbClr val="FAF7F0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0" y="1417320"/>
            <a:ext cx="3657600" cy="310896"/>
          </a:xfrm>
          <a:prstGeom prst="roundRect">
            <a:avLst/>
          </a:prstGeom>
          <a:solidFill>
            <a:srgbClr val="1B2A41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AF7F0"/>
                </a:solidFill>
                <a:latin typeface="Menlo"/>
              </a:rPr>
              <a:t>E-2025-05-23-0412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39327" y="176479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1"/>
                </a:solidFill>
                <a:latin typeface="Menlo"/>
              </a:rPr>
              <a:t>artifact: sha256:7c19…e2a4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39327" y="200253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9A2E"/>
                </a:solidFill>
                <a:latin typeface="Menlo"/>
              </a:rPr>
              <a:t>prev    : 5d81…e903 ─────┐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7" y="224028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1"/>
                </a:solidFill>
                <a:latin typeface="Menlo"/>
              </a:rPr>
              <a:t>key_id  : ikm-2025-Q2-07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9327" y="2478024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1"/>
                </a:solidFill>
                <a:latin typeface="Menlo"/>
              </a:rPr>
              <a:t>mac     : b44a…91c7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468880"/>
            <a:ext cx="3657600" cy="1335024"/>
          </a:xfrm>
          <a:prstGeom prst="roundRect">
            <a:avLst/>
          </a:prstGeom>
          <a:solidFill>
            <a:srgbClr val="FAF7F0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2468880"/>
            <a:ext cx="3657600" cy="310896"/>
          </a:xfrm>
          <a:prstGeom prst="roundRect">
            <a:avLst/>
          </a:prstGeom>
          <a:solidFill>
            <a:srgbClr val="1B2A41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AF7F0"/>
                </a:solidFill>
                <a:latin typeface="Menlo"/>
              </a:rPr>
              <a:t>E-2025-05-23-0411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281635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1"/>
                </a:solidFill>
                <a:latin typeface="Menlo"/>
              </a:rPr>
              <a:t>artifact: sha256:aa02…19bd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305409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9A2E"/>
                </a:solidFill>
                <a:latin typeface="Menlo"/>
              </a:rPr>
              <a:t>prev    : 27f0…6c11 ─────┐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3291839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1"/>
                </a:solidFill>
                <a:latin typeface="Menlo"/>
              </a:rPr>
              <a:t>key_id  : ikm-2025-Q2-07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3529583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9A2E"/>
                </a:solidFill>
                <a:latin typeface="Menlo"/>
              </a:rPr>
              <a:t>mac     : 5d81…e903  ◄───┘ matches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20440"/>
            <a:ext cx="3657600" cy="1335024"/>
          </a:xfrm>
          <a:prstGeom prst="roundRect">
            <a:avLst/>
          </a:prstGeom>
          <a:solidFill>
            <a:srgbClr val="FAF7F0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3520440"/>
            <a:ext cx="3657600" cy="310896"/>
          </a:xfrm>
          <a:prstGeom prst="roundRect">
            <a:avLst/>
          </a:prstGeom>
          <a:solidFill>
            <a:srgbClr val="1B2A41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AF7F0"/>
                </a:solidFill>
                <a:latin typeface="Menlo"/>
              </a:rPr>
              <a:t>E-2025-05-23-0410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86791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1"/>
                </a:solidFill>
                <a:latin typeface="Menlo"/>
              </a:rPr>
              <a:t>artifact: sha256:90cd…77e8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10565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1"/>
                </a:solidFill>
                <a:latin typeface="Menlo"/>
              </a:rPr>
              <a:t>prev    : c1a9…04f2  (→ 0409 …)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34340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1"/>
                </a:solidFill>
                <a:latin typeface="Menlo"/>
              </a:rPr>
              <a:t>key_id  : ikm-2025-Q2-07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581144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9A2E"/>
                </a:solidFill>
                <a:latin typeface="Menlo"/>
              </a:rPr>
              <a:t>mac     : 27f0…6c11  ◄───┘ matches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8001000" y="2148840"/>
            <a:ext cx="228600" cy="868680"/>
          </a:xfrm>
          <a:prstGeom prst="line">
            <a:avLst/>
          </a:prstGeom>
          <a:ln w="31750">
            <a:solidFill>
              <a:srgbClr val="C99A2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114800" y="3200400"/>
            <a:ext cx="228600" cy="868680"/>
          </a:xfrm>
          <a:prstGeom prst="line">
            <a:avLst/>
          </a:prstGeom>
          <a:ln w="31750">
            <a:solidFill>
              <a:srgbClr val="C99A2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66760" y="356616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480"/>
                </a:solidFill>
                <a:latin typeface="Avenir Next"/>
              </a:rPr>
              <a:t>At each hop:</a:t>
            </a:r>
          </a:p>
          <a:p>
            <a:pPr algn="l"/>
            <a:r>
              <a:rPr sz="1300" b="0" i="0">
                <a:solidFill>
                  <a:srgbClr val="6B7480"/>
                </a:solidFill>
                <a:latin typeface="Avenir Next"/>
              </a:rPr>
              <a:t>1. fetch the parent entry</a:t>
            </a:r>
          </a:p>
          <a:p>
            <a:pPr algn="l"/>
            <a:r>
              <a:rPr sz="1300" b="0" i="0">
                <a:solidFill>
                  <a:srgbClr val="6B7480"/>
                </a:solidFill>
                <a:latin typeface="Avenir Next"/>
              </a:rPr>
              <a:t>2. RECOMPUTE its mac from</a:t>
            </a:r>
          </a:p>
          <a:p>
            <a:pPr algn="l"/>
            <a:r>
              <a:rPr sz="1300" b="0" i="0">
                <a:solidFill>
                  <a:srgbClr val="6B7480"/>
                </a:solidFill>
                <a:latin typeface="Avenir Next"/>
              </a:rPr>
              <a:t>    its own fields + key</a:t>
            </a:r>
          </a:p>
          <a:p>
            <a:pPr algn="l"/>
            <a:r>
              <a:rPr sz="1300" b="0" i="0">
                <a:solidFill>
                  <a:srgbClr val="6B7480"/>
                </a:solidFill>
                <a:latin typeface="Avenir Next"/>
              </a:rPr>
              <a:t>3. compare to the child's</a:t>
            </a:r>
          </a:p>
          <a:p>
            <a:pPr algn="l"/>
            <a:r>
              <a:rPr sz="1300" b="0" i="0">
                <a:solidFill>
                  <a:srgbClr val="6B7480"/>
                </a:solidFill>
                <a:latin typeface="Avenir Next"/>
              </a:rPr>
              <a:t>    prev_entry_mac</a:t>
            </a:r>
          </a:p>
          <a:p>
            <a:pPr algn="l"/>
            <a:r>
              <a:rPr sz="1300" b="0" i="0">
                <a:solidFill>
                  <a:srgbClr val="6B7480"/>
                </a:solidFill>
                <a:latin typeface="Avenir Next"/>
              </a:rPr>
              <a:t>Mismatch = break at this</a:t>
            </a:r>
          </a:p>
          <a:p>
            <a:pPr algn="l"/>
            <a:r>
              <a:rPr sz="1300" b="0" i="0">
                <a:solidFill>
                  <a:srgbClr val="6B7480"/>
                </a:solidFill>
                <a:latin typeface="Avenir Next"/>
              </a:rPr>
              <a:t>exact hop. Match = proven</a:t>
            </a:r>
          </a:p>
          <a:p>
            <a:pPr algn="l"/>
            <a:r>
              <a:rPr sz="1300" b="0" i="0">
                <a:solidFill>
                  <a:srgbClr val="6B7480"/>
                </a:solidFill>
                <a:latin typeface="Avenir Next"/>
              </a:rPr>
              <a:t>link; keep walking.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B2A41"/>
                </a:solidFill>
                <a:latin typeface="Avenir Next"/>
              </a:rPr>
              <a:t>Walk ends at the genesis entry (prev = ∅). You have now re-derived the spine — proven, not just read.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1"/>
                </a:solidFill>
                <a:latin typeface="Avenir Next"/>
              </a:rPr>
              <a:t>Why the walk alone is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480"/>
                </a:solidFill>
                <a:latin typeface="Avenir Next"/>
              </a:rPr>
              <a:t>A fabricator can build a chain that is internally consistent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3017520"/>
          </a:xfrm>
          <a:prstGeom prst="roundRect">
            <a:avLst/>
          </a:prstGeom>
          <a:solidFill>
            <a:srgbClr val="FAF7F0"/>
          </a:solidFill>
          <a:ln w="15875">
            <a:solidFill>
              <a:srgbClr val="B3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32D2D"/>
                </a:solidFill>
                <a:latin typeface="Avenir Next"/>
              </a:rPr>
              <a:t>THE FORGERY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Rebuild every entry from the point of a</a:t>
            </a:r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change forward, re-MAC the tail, and the</a:t>
            </a:r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links all match again.</a:t>
            </a:r>
          </a:p>
          <a:p>
            <a:pPr algn="l"/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Internal consistency proves sequence —</a:t>
            </a:r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it does not prove the sequence existed</a:t>
            </a:r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BEFORE today.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3017520"/>
          </a:xfrm>
          <a:prstGeom prst="roundRect">
            <a:avLst/>
          </a:prstGeom>
          <a:solidFill>
            <a:srgbClr val="E7EEF2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Avenir Next"/>
              </a:rPr>
              <a:t>THE ANCHOR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Each day's entries were rolled into a</a:t>
            </a:r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Merkle root, signed by the HSM, and</a:t>
            </a:r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PUBLISHED that day — outside the</a:t>
            </a:r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institution's reach.</a:t>
            </a:r>
          </a:p>
          <a:p>
            <a:pPr algn="l"/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History is pinned where the bank's own</a:t>
            </a:r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accounts cannot follow.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Avenir Next"/>
              </a:rPr>
              <a:t>So the walk has a second half: recompute each crossed day's root and compare it to the seal</a:t>
            </a:r>
          </a:p>
          <a:p>
            <a:pPr algn="l"/>
            <a:r>
              <a:rPr sz="1600" b="1" i="0">
                <a:solidFill>
                  <a:srgbClr val="1B2A41"/>
                </a:solidFill>
                <a:latin typeface="Avenir Next"/>
              </a:rPr>
              <a:t>that day published — a year before you started asking.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1"/>
                </a:solidFill>
                <a:latin typeface="Avenir Next"/>
              </a:rPr>
              <a:t>Step 3 — recompute the day's Merkle root, compare to the published seal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480"/>
                </a:solidFill>
                <a:latin typeface="Avenir Next"/>
              </a:rPr>
              <a:t>May 23, 2025: 517 entries → one root → one signed seal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749039" cy="1335024"/>
          </a:xfrm>
          <a:prstGeom prst="roundRect">
            <a:avLst/>
          </a:prstGeom>
          <a:solidFill>
            <a:srgbClr val="FAF7F0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749039" cy="310896"/>
          </a:xfrm>
          <a:prstGeom prst="roundRect">
            <a:avLst/>
          </a:prstGeom>
          <a:solidFill>
            <a:srgbClr val="1B2A41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AF7F0"/>
                </a:solidFill>
                <a:latin typeface="Menlo"/>
              </a:rPr>
              <a:t>RECOMPUTED  (today, your tooling)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3566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day       : 2025-05-23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85415"/>
            <a:ext cx="3566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entries   : E-…-0001 … E-…-0517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23159"/>
            <a:ext cx="3566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leaf i    : mac of entry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60903"/>
            <a:ext cx="3566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E7C7B"/>
                </a:solidFill>
                <a:latin typeface="Menlo"/>
              </a:rPr>
              <a:t>root'     : 6a3f…d208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600200"/>
            <a:ext cx="3749039" cy="1572768"/>
          </a:xfrm>
          <a:prstGeom prst="roundRect">
            <a:avLst/>
          </a:prstGeom>
          <a:solidFill>
            <a:srgbClr val="FAF7F0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1600200"/>
            <a:ext cx="3749039" cy="310896"/>
          </a:xfrm>
          <a:prstGeom prst="roundRect">
            <a:avLst/>
          </a:prstGeom>
          <a:solidFill>
            <a:srgbClr val="1B2A41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AF7F0"/>
                </a:solidFill>
                <a:latin typeface="Menlo"/>
              </a:rPr>
              <a:t>PUBLISHED SEAL  (May 23,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1947672"/>
            <a:ext cx="3566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seal_id   : S-2025-05-23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185415"/>
            <a:ext cx="3566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E7C7B"/>
                </a:solidFill>
                <a:latin typeface="Menlo"/>
              </a:rPr>
              <a:t>root      : 6a3f…d208   ◄ equal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423159"/>
            <a:ext cx="3566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signed_by : hsm-seal-01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660903"/>
            <a:ext cx="3566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sig       : ed25519:74bb…0e91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2898647"/>
            <a:ext cx="3566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published : external log, T+0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1600200"/>
            <a:ext cx="3017520" cy="1097280"/>
          </a:xfrm>
          <a:prstGeom prst="roundRect">
            <a:avLst/>
          </a:prstGeom>
          <a:solidFill>
            <a:srgbClr val="FAF7F0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78240" y="1600200"/>
            <a:ext cx="3017520" cy="310896"/>
          </a:xfrm>
          <a:prstGeom prst="roundRect">
            <a:avLst/>
          </a:prstGeom>
          <a:solidFill>
            <a:srgbClr val="1B2A41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AF7F0"/>
                </a:solidFill>
                <a:latin typeface="Menlo"/>
              </a:rPr>
              <a:t>VERDICT (this day)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7" y="1947672"/>
            <a:ext cx="2834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root' == root  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7" y="2185415"/>
            <a:ext cx="2834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sig valid       ✓ (step 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7" y="2423159"/>
            <a:ext cx="2834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E7C7B"/>
                </a:solidFill>
                <a:latin typeface="Menlo"/>
              </a:rPr>
              <a:t>day 2025-05-23  PROVEN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97680" y="2514600"/>
            <a:ext cx="365760" cy="0"/>
          </a:xfrm>
          <a:prstGeom prst="line">
            <a:avLst/>
          </a:prstGeom>
          <a:ln w="25400">
            <a:solidFill>
              <a:srgbClr val="0E7C7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12480" y="2514600"/>
            <a:ext cx="365760" cy="0"/>
          </a:xfrm>
          <a:prstGeom prst="line">
            <a:avLst/>
          </a:prstGeom>
          <a:ln w="25400">
            <a:solidFill>
              <a:srgbClr val="0E7C7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39319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A41"/>
                </a:solidFill>
                <a:latin typeface="Avenir Next"/>
              </a:rPr>
              <a:t>root' is computed from the entries you just walked; root came from the outside world with a</a:t>
            </a:r>
          </a:p>
          <a:p>
            <a:pPr algn="l"/>
            <a:r>
              <a:rPr sz="1500" b="0" i="0">
                <a:solidFill>
                  <a:srgbClr val="1B2A41"/>
                </a:solidFill>
                <a:latin typeface="Avenir Next"/>
              </a:rPr>
              <a:t>May 23, 2025 publication timestamp. Equality means this day's evidence existed, in this form,</a:t>
            </a:r>
          </a:p>
          <a:p>
            <a:pPr algn="l"/>
            <a:r>
              <a:rPr sz="1500" b="0" i="0">
                <a:solidFill>
                  <a:srgbClr val="1B2A41"/>
                </a:solidFill>
                <a:latin typeface="Avenir Next"/>
              </a:rPr>
              <a:t>on that day. Repeat for every day the walk crosses — each is an independent anchor, so even a</a:t>
            </a:r>
          </a:p>
          <a:p>
            <a:pPr algn="l"/>
            <a:r>
              <a:rPr sz="1500" b="0" i="0">
                <a:solidFill>
                  <a:srgbClr val="1B2A41"/>
                </a:solidFill>
                <a:latin typeface="Avenir Next"/>
              </a:rPr>
              <a:t>compromise discovered later cannot silently rewrite days sealed before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1"/>
                </a:solidFill>
                <a:latin typeface="Avenir Next"/>
              </a:rPr>
              <a:t>Step 4 — validate keys against the registry manifest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480"/>
                </a:solidFill>
                <a:latin typeface="Avenir Next"/>
              </a:rPr>
              <a:t>Was the seal's signing key legitimate ON THAT DATE? The manifest answers — and you check the manifest yourself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94960" cy="2286000"/>
          </a:xfrm>
          <a:prstGeom prst="roundRect">
            <a:avLst/>
          </a:prstGeom>
          <a:solidFill>
            <a:srgbClr val="FAF7F0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394960" cy="310896"/>
          </a:xfrm>
          <a:prstGeom prst="roundRect">
            <a:avLst/>
          </a:prstGeom>
          <a:solidFill>
            <a:srgbClr val="1B2A41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AF7F0"/>
                </a:solidFill>
                <a:latin typeface="Menlo"/>
              </a:rPr>
              <a:t>KEY REGISTRY MANIFEST  (HSM-signed)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manifest_root : m-88c2…511a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85415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signed_by     : hsm-registry-root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23159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sig           : ed25519:2f90…c6d3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60903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─────────────────────────────────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7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9A2E"/>
                </a:solidFill>
                <a:latin typeface="Menlo"/>
              </a:rPr>
              <a:t>ikm-2025-Q2-07 : valid 2025-04-01 → 2025-06-30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136391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E7C7B"/>
                </a:solidFill>
                <a:latin typeface="Menlo"/>
              </a:rPr>
              <a:t>hsm-seal-01    : valid 2024-11-15 → present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374135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E7C7B"/>
                </a:solidFill>
                <a:latin typeface="Menlo"/>
              </a:rPr>
              <a:t>  fingerprint  : f7:2a:…:9c  ◄ reconcile by hand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611879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roles          : registry-root ≠ seal-requester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Three checks:</a:t>
            </a:r>
          </a:p>
          <a:p>
            <a:pPr algn="l"/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1.  The entry keys you used (ikm-2025-Q2-07)</a:t>
            </a:r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     were valid in their entries' windows</a:t>
            </a:r>
          </a:p>
          <a:p>
            <a:pPr algn="l"/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2.  The seal signer (hsm-seal-01) was valid</a:t>
            </a:r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     on May 23, 2025 — fingerprint reconciled</a:t>
            </a:r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     with YOUR tooling against the published</a:t>
            </a:r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     manifest root</a:t>
            </a:r>
          </a:p>
          <a:p>
            <a:pPr algn="l"/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3.  Separation of duties: the role holding the</a:t>
            </a:r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     registry root can't request seals and can't</a:t>
            </a:r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     extract keys — forging the manifest means</a:t>
            </a:r>
          </a:p>
          <a:p>
            <a:pPr algn="l"/>
            <a:r>
              <a:rPr sz="1300" b="0" i="0">
                <a:solidFill>
                  <a:srgbClr val="1B2A41"/>
                </a:solidFill>
                <a:latin typeface="Avenir Next"/>
              </a:rPr>
              <a:t>     defeating hardware custody, not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57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480"/>
                </a:solidFill>
                <a:latin typeface="Avenir Next"/>
              </a:rPr>
              <a:t>This is the examiner's independence step — no bank tooling, no bank word. (Danny Tran's turn, ch. 24.)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1"/>
                </a:solidFill>
                <a:latin typeface="Avenir Next"/>
              </a:rPr>
              <a:t>Step 5 — the reconstructed lineage, end to 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743200"/>
            <a:ext cx="1783080" cy="1188720"/>
          </a:xfrm>
          <a:prstGeom prst="roundRect">
            <a:avLst/>
          </a:prstGeom>
          <a:solidFill>
            <a:srgbClr val="FAF7F0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B2A41"/>
                </a:solidFill>
                <a:latin typeface="Avenir Next"/>
              </a:rPr>
              <a:t>ARTIFACT</a:t>
            </a:r>
          </a:p>
          <a:p>
            <a:pPr algn="ctr"/>
            <a:r>
              <a:rPr sz="1050" b="0">
                <a:solidFill>
                  <a:srgbClr val="1B2A41"/>
                </a:solidFill>
                <a:latin typeface="Avenir Next"/>
              </a:rPr>
              <a:t>LN-2025-088231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50591" y="2743200"/>
            <a:ext cx="1783080" cy="1188720"/>
          </a:xfrm>
          <a:prstGeom prst="roundRect">
            <a:avLst/>
          </a:prstGeom>
          <a:solidFill>
            <a:srgbClr val="FAF7F0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B2A41"/>
                </a:solidFill>
                <a:latin typeface="Avenir Next"/>
              </a:rPr>
              <a:t>ENTRY 0412</a:t>
            </a:r>
          </a:p>
          <a:p>
            <a:pPr algn="ctr"/>
            <a:r>
              <a:rPr sz="1050" b="0">
                <a:solidFill>
                  <a:srgbClr val="1B2A41"/>
                </a:solidFill>
                <a:latin typeface="Avenir Next"/>
              </a:rPr>
              <a:t>mac b44a…91c7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49423" y="3337560"/>
            <a:ext cx="201168" cy="0"/>
          </a:xfrm>
          <a:prstGeom prst="line">
            <a:avLst/>
          </a:prstGeom>
          <a:ln w="28575">
            <a:solidFill>
              <a:srgbClr val="0E7C7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398264" y="2743200"/>
            <a:ext cx="1783080" cy="1188720"/>
          </a:xfrm>
          <a:prstGeom prst="roundRect">
            <a:avLst/>
          </a:prstGeom>
          <a:solidFill>
            <a:srgbClr val="E7EEF2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B2A41"/>
                </a:solidFill>
                <a:latin typeface="Avenir Next"/>
              </a:rPr>
              <a:t>… verified walk …</a:t>
            </a:r>
          </a:p>
          <a:p>
            <a:pPr algn="ctr"/>
            <a:r>
              <a:rPr sz="1050" b="0">
                <a:solidFill>
                  <a:srgbClr val="1B2A41"/>
                </a:solidFill>
                <a:latin typeface="Avenir Next"/>
              </a:rPr>
              <a:t>0411 → 0410 → … → genesis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97096" y="3337560"/>
            <a:ext cx="201168" cy="0"/>
          </a:xfrm>
          <a:prstGeom prst="line">
            <a:avLst/>
          </a:prstGeom>
          <a:ln w="28575">
            <a:solidFill>
              <a:srgbClr val="0E7C7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45936" y="2743200"/>
            <a:ext cx="1783080" cy="1188720"/>
          </a:xfrm>
          <a:prstGeom prst="roundRect">
            <a:avLst/>
          </a:prstGeom>
          <a:solidFill>
            <a:srgbClr val="E7EEF2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B2A41"/>
                </a:solidFill>
                <a:latin typeface="Avenir Next"/>
              </a:rPr>
              <a:t>DAY ROOTS</a:t>
            </a:r>
          </a:p>
          <a:p>
            <a:pPr algn="ctr"/>
            <a:r>
              <a:rPr sz="1050" b="0">
                <a:solidFill>
                  <a:srgbClr val="1B2A41"/>
                </a:solidFill>
                <a:latin typeface="Avenir Next"/>
              </a:rPr>
              <a:t>root' == root, each day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44768" y="3337560"/>
            <a:ext cx="201168" cy="0"/>
          </a:xfrm>
          <a:prstGeom prst="line">
            <a:avLst/>
          </a:prstGeom>
          <a:ln w="28575">
            <a:solidFill>
              <a:srgbClr val="0E7C7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93608" y="2743200"/>
            <a:ext cx="1783080" cy="1188720"/>
          </a:xfrm>
          <a:prstGeom prst="roundRect">
            <a:avLst/>
          </a:prstGeom>
          <a:solidFill>
            <a:srgbClr val="E7EEF2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B2A41"/>
                </a:solidFill>
                <a:latin typeface="Avenir Next"/>
              </a:rPr>
              <a:t>SEALS</a:t>
            </a:r>
          </a:p>
          <a:p>
            <a:pPr algn="ctr"/>
            <a:r>
              <a:rPr sz="1050" b="0">
                <a:solidFill>
                  <a:srgbClr val="1B2A41"/>
                </a:solidFill>
                <a:latin typeface="Avenir Next"/>
              </a:rPr>
              <a:t>signed + published, T+0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92440" y="3337560"/>
            <a:ext cx="201168" cy="0"/>
          </a:xfrm>
          <a:prstGeom prst="line">
            <a:avLst/>
          </a:prstGeom>
          <a:ln w="28575">
            <a:solidFill>
              <a:srgbClr val="0E7C7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241280" y="2743200"/>
            <a:ext cx="1783080" cy="1188720"/>
          </a:xfrm>
          <a:prstGeom prst="roundRect">
            <a:avLst/>
          </a:prstGeom>
          <a:solidFill>
            <a:srgbClr val="1B2A41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AF7F0"/>
                </a:solidFill>
                <a:latin typeface="Avenir Next"/>
              </a:rPr>
              <a:t>MANIFEST</a:t>
            </a:r>
          </a:p>
          <a:p>
            <a:pPr algn="ctr"/>
            <a:r>
              <a:rPr sz="1050" b="0">
                <a:solidFill>
                  <a:srgbClr val="FAF7F0"/>
                </a:solidFill>
                <a:latin typeface="Avenir Next"/>
              </a:rPr>
              <a:t>keys vouched, roles split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40111" y="3337560"/>
            <a:ext cx="201169" cy="0"/>
          </a:xfrm>
          <a:prstGeom prst="line">
            <a:avLst/>
          </a:prstGeom>
          <a:ln w="28575">
            <a:solidFill>
              <a:srgbClr val="0E7C7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448056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A41"/>
                </a:solidFill>
                <a:latin typeface="Avenir Next"/>
              </a:rPr>
              <a:t>Outcome is binary and reproducible: byte-equal reconstruction of the record's history, or a break</a:t>
            </a:r>
          </a:p>
          <a:p>
            <a:pPr algn="l"/>
            <a:r>
              <a:rPr sz="1500" b="0" i="0">
                <a:solidFill>
                  <a:srgbClr val="1B2A41"/>
                </a:solidFill>
                <a:latin typeface="Avenir Next"/>
              </a:rPr>
              <a:t>at an exact hop / exact byte offset showing precisely where history diverges. Any examiner running</a:t>
            </a:r>
          </a:p>
          <a:p>
            <a:pPr algn="l"/>
            <a:r>
              <a:rPr sz="1500" b="0" i="0">
                <a:solidFill>
                  <a:srgbClr val="1B2A41"/>
                </a:solidFill>
                <a:latin typeface="Avenir Next"/>
              </a:rPr>
              <a:t>the same procedure gets the same verdict — that is what replaces “as represented by management.”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1"/>
                </a:solidFill>
                <a:latin typeface="Avenir Next"/>
              </a:rPr>
              <a:t>The shortcut — Merkle inclusion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480"/>
                </a:solidFill>
                <a:latin typeface="Avenir Next"/>
              </a:rPr>
              <a:t>When the question is only “is this record in the sealed set?” — skip the full walk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4937760" cy="2048256"/>
          </a:xfrm>
          <a:prstGeom prst="roundRect">
            <a:avLst/>
          </a:prstGeom>
          <a:solidFill>
            <a:srgbClr val="FAF7F0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4937760" cy="310896"/>
          </a:xfrm>
          <a:prstGeom prst="roundRect">
            <a:avLst/>
          </a:prstGeom>
          <a:solidFill>
            <a:srgbClr val="1B2A41"/>
          </a:solidFill>
          <a:ln w="15875"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AF7F0"/>
                </a:solidFill>
                <a:latin typeface="Menlo"/>
              </a:rPr>
              <a:t>INCLUSION PROOF for entry 0412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9339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leaf      : mac(0412) = b44a…91c7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3113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sibling 1 : mac(0411) = 5d81…e903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6888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sibling 2 : node(0409-0410) = e3c7…20aa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0662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sibling 3 : node(0401-0408) = 91d5…b3fe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4436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1"/>
                </a:solidFill>
                <a:latin typeface="Menlo"/>
              </a:rPr>
              <a:t>  …  ~10 hashes for 517 entries 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182111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E7C7B"/>
                </a:solidFill>
                <a:latin typeface="Menlo"/>
              </a:rPr>
              <a:t>computes  : root' = 6a3f…d208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419855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E7C7B"/>
                </a:solidFill>
                <a:latin typeface="Menlo"/>
              </a:rPr>
              <a:t>compare   : seal S-2025-05-23 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82880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B2A41"/>
                </a:solidFill>
                <a:latin typeface="Avenir Next"/>
              </a:rPr>
              <a:t>Hand over ~log2(N) sibling hashes — about ten</a:t>
            </a:r>
          </a:p>
          <a:p>
            <a:pPr algn="l"/>
            <a:r>
              <a:rPr sz="1350" b="0" i="0">
                <a:solidFill>
                  <a:srgbClr val="1B2A41"/>
                </a:solidFill>
                <a:latin typeface="Avenir Next"/>
              </a:rPr>
              <a:t>for a 517-entry day — and anyone can recompute</a:t>
            </a:r>
          </a:p>
          <a:p>
            <a:pPr algn="l"/>
            <a:r>
              <a:rPr sz="1350" b="0" i="0">
                <a:solidFill>
                  <a:srgbClr val="1B2A41"/>
                </a:solidFill>
                <a:latin typeface="Avenir Next"/>
              </a:rPr>
              <a:t>the path from the record's leaf up to the root and</a:t>
            </a:r>
          </a:p>
          <a:p>
            <a:pPr algn="l"/>
            <a:r>
              <a:rPr sz="1350" b="0" i="0">
                <a:solidFill>
                  <a:srgbClr val="1B2A41"/>
                </a:solidFill>
                <a:latin typeface="Avenir Next"/>
              </a:rPr>
              <a:t>compare it to the published seal.</a:t>
            </a:r>
          </a:p>
          <a:p>
            <a:pPr algn="l"/>
          </a:p>
          <a:p>
            <a:pPr algn="l"/>
            <a:r>
              <a:rPr sz="1350" b="0" i="0">
                <a:solidFill>
                  <a:srgbClr val="1B2A41"/>
                </a:solidFill>
                <a:latin typeface="Avenir Next"/>
              </a:rPr>
              <a:t>Membership proven in seconds, nothing else</a:t>
            </a:r>
          </a:p>
          <a:p>
            <a:pPr algn="l"/>
            <a:r>
              <a:rPr sz="1350" b="0" i="0">
                <a:solidFill>
                  <a:srgbClr val="1B2A41"/>
                </a:solidFill>
                <a:latin typeface="Avenir Next"/>
              </a:rPr>
              <a:t>revealed.</a:t>
            </a:r>
          </a:p>
          <a:p>
            <a:pPr algn="l"/>
          </a:p>
          <a:p>
            <a:pPr algn="l"/>
            <a:r>
              <a:rPr sz="1350" b="0" i="0">
                <a:solidFill>
                  <a:srgbClr val="1B2A41"/>
                </a:solidFill>
                <a:latin typeface="Avenir Next"/>
              </a:rPr>
              <a:t>Use the full backward walk when LINEAGE or</a:t>
            </a:r>
          </a:p>
          <a:p>
            <a:pPr algn="l"/>
            <a:r>
              <a:rPr sz="1350" b="0" i="0">
                <a:solidFill>
                  <a:srgbClr val="1B2A41"/>
                </a:solidFill>
                <a:latin typeface="Avenir Next"/>
              </a:rPr>
              <a:t>ORDERING is the question (e.g. the 7 TAC §3.24</a:t>
            </a:r>
          </a:p>
          <a:p>
            <a:pPr algn="l"/>
            <a:r>
              <a:rPr sz="1350" b="0" i="0">
                <a:solidFill>
                  <a:srgbClr val="1B2A41"/>
                </a:solidFill>
                <a:latin typeface="Avenir Next"/>
              </a:rPr>
              <a:t>regulator-before-customer proof); use inclusion</a:t>
            </a:r>
          </a:p>
          <a:p>
            <a:pPr algn="l"/>
            <a:r>
              <a:rPr sz="1350" b="0" i="0">
                <a:solidFill>
                  <a:srgbClr val="1B2A41"/>
                </a:solidFill>
                <a:latin typeface="Avenir Next"/>
              </a:rPr>
              <a:t>when membership 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1"/>
                </a:solidFill>
                <a:latin typeface="Avenir Next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A41"/>
                </a:solidFill>
                <a:latin typeface="Avenir Next"/>
              </a:rPr>
              <a:t>In practice:  ffiec-verify  runs steps 1-4 and reports the verdict</a:t>
            </a:r>
          </a:p>
          <a:p>
            <a:pPr algn="l"/>
            <a:r>
              <a:rPr sz="1500" b="0" i="0">
                <a:solidFill>
                  <a:srgbClr val="1B2A41"/>
                </a:solidFill>
                <a:latin typeface="Avenir Next"/>
              </a:rPr>
              <a:t>    (profiles: ffiec, tx-dob — framing changes, verdict never does)</a:t>
            </a:r>
          </a:p>
          <a:p>
            <a:pPr algn="l"/>
          </a:p>
          <a:p>
            <a:pPr algn="l"/>
            <a:r>
              <a:rPr sz="1500" b="0" i="0">
                <a:solidFill>
                  <a:srgbClr val="1B2A41"/>
                </a:solidFill>
                <a:latin typeface="Avenir Next"/>
              </a:rPr>
              <a:t>Spec (public, ffiec-public / chain-of-custody 0.3.0):</a:t>
            </a:r>
          </a:p>
          <a:p>
            <a:pPr algn="l"/>
            <a:r>
              <a:rPr sz="1500" b="0" i="0">
                <a:solidFill>
                  <a:srgbClr val="1B2A41"/>
                </a:solidFill>
                <a:latin typeface="Avenir Next"/>
              </a:rPr>
              <a:t>    §4    the four primitives — per-event MAC, Merkle seal, HSM signature, publication</a:t>
            </a:r>
          </a:p>
          <a:p>
            <a:pPr algn="l"/>
            <a:r>
              <a:rPr sz="1500" b="0" i="0">
                <a:solidFill>
                  <a:srgbClr val="1B2A41"/>
                </a:solidFill>
                <a:latin typeface="Avenir Next"/>
              </a:rPr>
              <a:t>    §7    the verifier procedure this deck walks</a:t>
            </a:r>
          </a:p>
          <a:p>
            <a:pPr algn="l"/>
            <a:r>
              <a:rPr sz="1500" b="0" i="0">
                <a:solidFill>
                  <a:srgbClr val="1B2A41"/>
                </a:solidFill>
                <a:latin typeface="Avenir Next"/>
              </a:rPr>
              <a:t>    §10.76 / §10.1 / §10.5   key-registry manifest, fingerprint reconciliation, role separation</a:t>
            </a:r>
          </a:p>
          <a:p>
            <a:pPr algn="l"/>
            <a:r>
              <a:rPr sz="1500" b="0" i="0">
                <a:solidFill>
                  <a:srgbClr val="1B2A41"/>
                </a:solidFill>
                <a:latin typeface="Avenir Next"/>
              </a:rPr>
              <a:t>    §10.84   ordering proofs across already-sealed days</a:t>
            </a:r>
          </a:p>
          <a:p>
            <a:pPr algn="l"/>
            <a:r>
              <a:rPr sz="1500" b="0" i="0">
                <a:solidFill>
                  <a:srgbClr val="1B2A41"/>
                </a:solidFill>
                <a:latin typeface="Avenir Next"/>
              </a:rPr>
              <a:t>    §10.85   artifact retrieval index — digest→bytes resolution, entry-keyed uniqueness,</a:t>
            </a:r>
          </a:p>
          <a:p>
            <a:pPr algn="l"/>
            <a:r>
              <a:rPr sz="1500" b="0" i="0">
                <a:solidFill>
                  <a:srgbClr val="1B2A41"/>
                </a:solidFill>
                <a:latin typeface="Avenir Next"/>
              </a:rPr>
              <a:t>             chain-bound disposal events, mandatory resolvability sweep</a:t>
            </a:r>
          </a:p>
          <a:p>
            <a:pPr algn="l"/>
            <a:r>
              <a:rPr sz="1500" b="0" i="0">
                <a:solidFill>
                  <a:srgbClr val="1B2A41"/>
                </a:solidFill>
                <a:latin typeface="Avenir Next"/>
              </a:rPr>
              <a:t>    §10.9    retention — keys and seals must outlive the longest-lived artifact they verify</a:t>
            </a:r>
          </a:p>
          <a:p>
            <a:pPr algn="l"/>
          </a:p>
          <a:p>
            <a:pPr algn="l"/>
            <a:r>
              <a:rPr sz="1500" b="0" i="0">
                <a:solidFill>
                  <a:srgbClr val="1B2A41"/>
                </a:solidFill>
                <a:latin typeface="Avenir Next"/>
              </a:rPr>
              <a:t>Companion deck:  diagrams/compliance/merkle-seal-chain.pptx  (forward construction + tamper cascade)</a:t>
            </a:r>
          </a:p>
          <a:p>
            <a:pPr algn="l"/>
            <a:r>
              <a:rPr sz="1500" b="0" i="0">
                <a:solidFill>
                  <a:srgbClr val="1B2A41"/>
                </a:solidFill>
                <a:latin typeface="Avenir Next"/>
              </a:rPr>
              <a:t>Narrative:  prose/compliance/novel/24-success-bank.md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