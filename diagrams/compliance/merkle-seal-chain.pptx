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B2A41"/>
        </a:solidFill>
        <a:effectLst/>
      </p:bgPr>
    </p:bg>
    <p:spTree>
      <p:nvGrpSpPr>
        <p:cNvPr id="1" name=""/>
        <p:cNvGrpSpPr/>
        <p:nvPr/>
      </p:nvGrpSpPr>
      <p:grpSpPr/>
      <p:sp>
        <p:nvSpPr>
          <p:cNvPr id="2" name="TextBox 1"/>
          <p:cNvSpPr txBox="1"/>
          <p:nvPr/>
        </p:nvSpPr>
        <p:spPr>
          <a:xfrm>
            <a:off x="822960" y="2103120"/>
            <a:ext cx="10515600" cy="1097280"/>
          </a:xfrm>
          <a:prstGeom prst="rect">
            <a:avLst/>
          </a:prstGeom>
          <a:noFill/>
        </p:spPr>
        <p:txBody>
          <a:bodyPr wrap="square">
            <a:spAutoFit/>
          </a:bodyPr>
          <a:lstStyle/>
          <a:p>
            <a:pPr algn="l"/>
            <a:r>
              <a:rPr sz="4400" b="1" i="0">
                <a:solidFill>
                  <a:srgbClr val="FAF7F0"/>
                </a:solidFill>
                <a:latin typeface="Avenir Next"/>
              </a:rPr>
              <a:t>The Merkle Seal Chain</a:t>
            </a:r>
          </a:p>
        </p:txBody>
      </p:sp>
      <p:sp>
        <p:nvSpPr>
          <p:cNvPr id="3" name="TextBox 2"/>
          <p:cNvSpPr txBox="1"/>
          <p:nvPr/>
        </p:nvSpPr>
        <p:spPr>
          <a:xfrm>
            <a:off x="822960" y="3108960"/>
            <a:ext cx="10515600" cy="640080"/>
          </a:xfrm>
          <a:prstGeom prst="rect">
            <a:avLst/>
          </a:prstGeom>
          <a:noFill/>
        </p:spPr>
        <p:txBody>
          <a:bodyPr wrap="square">
            <a:spAutoFit/>
          </a:bodyPr>
          <a:lstStyle/>
          <a:p>
            <a:pPr algn="l"/>
            <a:r>
              <a:rPr sz="2000" b="0" i="0">
                <a:solidFill>
                  <a:srgbClr val="9EC9C8"/>
                </a:solidFill>
                <a:latin typeface="Avenir Next"/>
              </a:rPr>
              <a:t>How hashes, links, daily seals, and a signed key registry make evidence tamper-evident</a:t>
            </a:r>
          </a:p>
        </p:txBody>
      </p:sp>
      <p:sp>
        <p:nvSpPr>
          <p:cNvPr id="4" name="TextBox 3"/>
          <p:cNvSpPr txBox="1"/>
          <p:nvPr/>
        </p:nvSpPr>
        <p:spPr>
          <a:xfrm>
            <a:off x="822960" y="5760720"/>
            <a:ext cx="10515600" cy="548640"/>
          </a:xfrm>
          <a:prstGeom prst="rect">
            <a:avLst/>
          </a:prstGeom>
          <a:noFill/>
        </p:spPr>
        <p:txBody>
          <a:bodyPr wrap="square">
            <a:spAutoFit/>
          </a:bodyPr>
          <a:lstStyle/>
          <a:p>
            <a:pPr algn="l"/>
            <a:r>
              <a:rPr sz="1200" b="0" i="0">
                <a:solidFill>
                  <a:srgbClr val="6B7480"/>
                </a:solidFill>
                <a:latin typeface="Avenir Next"/>
              </a:rPr>
              <a:t>Herald.Documentation — diagrams/compliance — chain-of-custody reference (CC8.1 vocabulary)</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AF7F0"/>
        </a:solidFill>
        <a:effectLst/>
      </p:bgPr>
    </p:bg>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spAutoFit/>
          </a:bodyPr>
          <a:lstStyle/>
          <a:p>
            <a:pPr algn="l"/>
            <a:r>
              <a:rPr sz="3000" b="1" i="0">
                <a:solidFill>
                  <a:srgbClr val="1B2A41"/>
                </a:solidFill>
                <a:latin typeface="Avenir Next"/>
              </a:rPr>
              <a:t>Building block 1 — the hash</a:t>
            </a:r>
          </a:p>
        </p:txBody>
      </p:sp>
      <p:sp>
        <p:nvSpPr>
          <p:cNvPr id="3" name="TextBox 2"/>
          <p:cNvSpPr txBox="1"/>
          <p:nvPr/>
        </p:nvSpPr>
        <p:spPr>
          <a:xfrm>
            <a:off x="548640" y="960120"/>
            <a:ext cx="11064240" cy="457200"/>
          </a:xfrm>
          <a:prstGeom prst="rect">
            <a:avLst/>
          </a:prstGeom>
          <a:noFill/>
        </p:spPr>
        <p:txBody>
          <a:bodyPr wrap="square">
            <a:spAutoFit/>
          </a:bodyPr>
          <a:lstStyle/>
          <a:p>
            <a:pPr algn="l"/>
            <a:r>
              <a:rPr sz="1500" b="0" i="1">
                <a:solidFill>
                  <a:srgbClr val="6B7480"/>
                </a:solidFill>
                <a:latin typeface="Avenir Next"/>
              </a:rPr>
              <a:t>A fingerprint of bytes: change anything, the fingerprint changes</a:t>
            </a:r>
          </a:p>
        </p:txBody>
      </p:sp>
      <p:sp>
        <p:nvSpPr>
          <p:cNvPr id="4" name="Rounded Rectangle 3"/>
          <p:cNvSpPr/>
          <p:nvPr/>
        </p:nvSpPr>
        <p:spPr>
          <a:xfrm>
            <a:off x="731520" y="2011680"/>
            <a:ext cx="3108960" cy="1371600"/>
          </a:xfrm>
          <a:prstGeom prst="roundRect">
            <a:avLst/>
          </a:prstGeom>
          <a:solidFill>
            <a:srgbClr val="FAF7F0"/>
          </a:solidFill>
          <a:ln w="15875">
            <a:solidFill>
              <a:srgbClr val="1B2A4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0">
                <a:solidFill>
                  <a:srgbClr val="1B2A41"/>
                </a:solidFill>
                <a:latin typeface="Avenir Next"/>
              </a:rPr>
              <a:t>Loan record #4187</a:t>
            </a:r>
          </a:p>
          <a:p>
            <a:pPr algn="ctr"/>
            <a:r>
              <a:rPr sz="1300" b="0">
                <a:solidFill>
                  <a:srgbClr val="1B2A41"/>
                </a:solidFill>
                <a:latin typeface="Avenir Next"/>
              </a:rPr>
              <a:t>balance: $214,309.00</a:t>
            </a:r>
          </a:p>
        </p:txBody>
      </p:sp>
      <p:cxnSp>
        <p:nvCxnSpPr>
          <p:cNvPr id="5" name="Connector 4"/>
          <p:cNvCxnSpPr/>
          <p:nvPr/>
        </p:nvCxnSpPr>
        <p:spPr>
          <a:xfrm>
            <a:off x="3931920" y="2697480"/>
            <a:ext cx="1188720" cy="0"/>
          </a:xfrm>
          <a:prstGeom prst="line">
            <a:avLst/>
          </a:prstGeom>
          <a:ln w="22225">
            <a:solidFill>
              <a:srgbClr val="1B2A41"/>
            </a:solidFill>
            <a:tailEnd type="arrow"/>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3977639" y="2240280"/>
            <a:ext cx="1188720" cy="365760"/>
          </a:xfrm>
          <a:prstGeom prst="rect">
            <a:avLst/>
          </a:prstGeom>
          <a:noFill/>
        </p:spPr>
        <p:txBody>
          <a:bodyPr wrap="square">
            <a:spAutoFit/>
          </a:bodyPr>
          <a:lstStyle/>
          <a:p>
            <a:pPr algn="ctr"/>
            <a:r>
              <a:rPr sz="1300" b="1" i="0">
                <a:solidFill>
                  <a:srgbClr val="0E7C7B"/>
                </a:solidFill>
                <a:latin typeface="Avenir Next"/>
              </a:rPr>
              <a:t>hash</a:t>
            </a:r>
          </a:p>
        </p:txBody>
      </p:sp>
      <p:sp>
        <p:nvSpPr>
          <p:cNvPr id="7" name="Rounded Rectangle 6"/>
          <p:cNvSpPr/>
          <p:nvPr/>
        </p:nvSpPr>
        <p:spPr>
          <a:xfrm>
            <a:off x="5212080" y="2286000"/>
            <a:ext cx="3200400" cy="822960"/>
          </a:xfrm>
          <a:prstGeom prst="roundRect">
            <a:avLst/>
          </a:prstGeom>
          <a:solidFill>
            <a:srgbClr val="E7EEF2"/>
          </a:solidFill>
          <a:ln w="15875">
            <a:solidFill>
              <a:srgbClr val="0E7C7B"/>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a:solidFill>
                  <a:srgbClr val="1B2A41"/>
                </a:solidFill>
                <a:latin typeface="Menlo"/>
              </a:rPr>
              <a:t>H = 9f2c…a71d</a:t>
            </a:r>
          </a:p>
        </p:txBody>
      </p:sp>
      <p:sp>
        <p:nvSpPr>
          <p:cNvPr id="8" name="Rounded Rectangle 7"/>
          <p:cNvSpPr/>
          <p:nvPr/>
        </p:nvSpPr>
        <p:spPr>
          <a:xfrm>
            <a:off x="731520" y="4023360"/>
            <a:ext cx="3108960" cy="1371600"/>
          </a:xfrm>
          <a:prstGeom prst="roundRect">
            <a:avLst/>
          </a:prstGeom>
          <a:solidFill>
            <a:srgbClr val="FAF7F0"/>
          </a:solidFill>
          <a:ln w="15875">
            <a:solidFill>
              <a:srgbClr val="B32D2D"/>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0">
                <a:solidFill>
                  <a:srgbClr val="1B2A41"/>
                </a:solidFill>
                <a:latin typeface="Avenir Next"/>
              </a:rPr>
              <a:t>Loan record #4187</a:t>
            </a:r>
          </a:p>
          <a:p>
            <a:pPr algn="ctr"/>
            <a:r>
              <a:rPr sz="1300" b="0">
                <a:solidFill>
                  <a:srgbClr val="1B2A41"/>
                </a:solidFill>
                <a:latin typeface="Avenir Next"/>
              </a:rPr>
              <a:t>balance: $214,809.00</a:t>
            </a:r>
          </a:p>
        </p:txBody>
      </p:sp>
      <p:cxnSp>
        <p:nvCxnSpPr>
          <p:cNvPr id="9" name="Connector 8"/>
          <p:cNvCxnSpPr/>
          <p:nvPr/>
        </p:nvCxnSpPr>
        <p:spPr>
          <a:xfrm>
            <a:off x="3931920" y="4709160"/>
            <a:ext cx="1188720" cy="0"/>
          </a:xfrm>
          <a:prstGeom prst="line">
            <a:avLst/>
          </a:prstGeom>
          <a:ln w="22225">
            <a:solidFill>
              <a:srgbClr val="B32D2D"/>
            </a:solidFill>
            <a:tailEnd type="arrow"/>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3977639" y="4251960"/>
            <a:ext cx="1188720" cy="365760"/>
          </a:xfrm>
          <a:prstGeom prst="rect">
            <a:avLst/>
          </a:prstGeom>
          <a:noFill/>
        </p:spPr>
        <p:txBody>
          <a:bodyPr wrap="square">
            <a:spAutoFit/>
          </a:bodyPr>
          <a:lstStyle/>
          <a:p>
            <a:pPr algn="ctr"/>
            <a:r>
              <a:rPr sz="1300" b="1" i="0">
                <a:solidFill>
                  <a:srgbClr val="B32D2D"/>
                </a:solidFill>
                <a:latin typeface="Avenir Next"/>
              </a:rPr>
              <a:t>hash</a:t>
            </a:r>
          </a:p>
        </p:txBody>
      </p:sp>
      <p:sp>
        <p:nvSpPr>
          <p:cNvPr id="11" name="Rounded Rectangle 10"/>
          <p:cNvSpPr/>
          <p:nvPr/>
        </p:nvSpPr>
        <p:spPr>
          <a:xfrm>
            <a:off x="5212080" y="4297680"/>
            <a:ext cx="3200400" cy="822960"/>
          </a:xfrm>
          <a:prstGeom prst="roundRect">
            <a:avLst/>
          </a:prstGeom>
          <a:solidFill>
            <a:srgbClr val="E7EEF2"/>
          </a:solidFill>
          <a:ln w="15875">
            <a:solidFill>
              <a:srgbClr val="B32D2D"/>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a:solidFill>
                  <a:srgbClr val="B32D2D"/>
                </a:solidFill>
                <a:latin typeface="Menlo"/>
              </a:rPr>
              <a:t>H = 03be…44c2</a:t>
            </a:r>
          </a:p>
        </p:txBody>
      </p:sp>
      <p:sp>
        <p:nvSpPr>
          <p:cNvPr id="12" name="TextBox 11"/>
          <p:cNvSpPr txBox="1"/>
          <p:nvPr/>
        </p:nvSpPr>
        <p:spPr>
          <a:xfrm>
            <a:off x="8778240" y="3017520"/>
            <a:ext cx="2926080" cy="2286000"/>
          </a:xfrm>
          <a:prstGeom prst="rect">
            <a:avLst/>
          </a:prstGeom>
          <a:noFill/>
        </p:spPr>
        <p:txBody>
          <a:bodyPr wrap="square">
            <a:spAutoFit/>
          </a:bodyPr>
          <a:lstStyle/>
          <a:p>
            <a:pPr algn="l"/>
            <a:r>
              <a:rPr sz="1300" b="0" i="0">
                <a:solidFill>
                  <a:srgbClr val="6B7480"/>
                </a:solidFill>
                <a:latin typeface="Avenir Next"/>
              </a:rPr>
              <a:t>One digit changed</a:t>
            </a:r>
          </a:p>
          <a:p>
            <a:pPr algn="l"/>
            <a:r>
              <a:rPr sz="1300" b="0" i="0">
                <a:solidFill>
                  <a:srgbClr val="6B7480"/>
                </a:solidFill>
                <a:latin typeface="Avenir Next"/>
              </a:rPr>
              <a:t>(3 → 8) —</a:t>
            </a:r>
          </a:p>
          <a:p>
            <a:pPr algn="l"/>
            <a:r>
              <a:rPr sz="1300" b="0" i="0">
                <a:solidFill>
                  <a:srgbClr val="6B7480"/>
                </a:solidFill>
                <a:latin typeface="Avenir Next"/>
              </a:rPr>
              <a:t>every bit of the</a:t>
            </a:r>
          </a:p>
          <a:p>
            <a:pPr algn="l"/>
            <a:r>
              <a:rPr sz="1300" b="0" i="0">
                <a:solidFill>
                  <a:srgbClr val="6B7480"/>
                </a:solidFill>
                <a:latin typeface="Avenir Next"/>
              </a:rPr>
              <a:t>fingerprint moves.</a:t>
            </a:r>
          </a:p>
          <a:p>
            <a:pPr algn="l"/>
          </a:p>
          <a:p>
            <a:pPr algn="l"/>
            <a:r>
              <a:rPr sz="1300" b="0" i="0">
                <a:solidFill>
                  <a:srgbClr val="6B7480"/>
                </a:solidFill>
                <a:latin typeface="Avenir Next"/>
              </a:rPr>
              <a:t>You cannot steer it,</a:t>
            </a:r>
          </a:p>
          <a:p>
            <a:pPr algn="l"/>
            <a:r>
              <a:rPr sz="1300" b="0" i="0">
                <a:solidFill>
                  <a:srgbClr val="6B7480"/>
                </a:solidFill>
                <a:latin typeface="Avenir Next"/>
              </a:rPr>
              <a:t>reverse it, or find a</a:t>
            </a:r>
          </a:p>
          <a:p>
            <a:pPr algn="l"/>
            <a:r>
              <a:rPr sz="1300" b="0" i="0">
                <a:solidFill>
                  <a:srgbClr val="6B7480"/>
                </a:solidFill>
                <a:latin typeface="Avenir Next"/>
              </a:rPr>
              <a:t>second input that</a:t>
            </a:r>
          </a:p>
          <a:p>
            <a:pPr algn="l"/>
            <a:r>
              <a:rPr sz="1300" b="0" i="0">
                <a:solidFill>
                  <a:srgbClr val="6B7480"/>
                </a:solidFill>
                <a:latin typeface="Avenir Next"/>
              </a:rPr>
              <a:t>matches it.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AF7F0"/>
        </a:solidFill>
        <a:effectLst/>
      </p:bgPr>
    </p:bg>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spAutoFit/>
          </a:bodyPr>
          <a:lstStyle/>
          <a:p>
            <a:pPr algn="l"/>
            <a:r>
              <a:rPr sz="3000" b="1" i="0">
                <a:solidFill>
                  <a:srgbClr val="1B2A41"/>
                </a:solidFill>
                <a:latin typeface="Avenir Next"/>
              </a:rPr>
              <a:t>Building block 2 — the keyed hash (MAC)</a:t>
            </a:r>
          </a:p>
        </p:txBody>
      </p:sp>
      <p:sp>
        <p:nvSpPr>
          <p:cNvPr id="3" name="TextBox 2"/>
          <p:cNvSpPr txBox="1"/>
          <p:nvPr/>
        </p:nvSpPr>
        <p:spPr>
          <a:xfrm>
            <a:off x="548640" y="960120"/>
            <a:ext cx="11064240" cy="457200"/>
          </a:xfrm>
          <a:prstGeom prst="rect">
            <a:avLst/>
          </a:prstGeom>
          <a:noFill/>
        </p:spPr>
        <p:txBody>
          <a:bodyPr wrap="square">
            <a:spAutoFit/>
          </a:bodyPr>
          <a:lstStyle/>
          <a:p>
            <a:pPr algn="l"/>
            <a:r>
              <a:rPr sz="1500" b="0" i="1">
                <a:solidFill>
                  <a:srgbClr val="6B7480"/>
                </a:solidFill>
                <a:latin typeface="Avenir Next"/>
              </a:rPr>
              <a:t>Each chain entry is hashed WITH a key — authenticity, not just integrity</a:t>
            </a:r>
          </a:p>
        </p:txBody>
      </p:sp>
      <p:sp>
        <p:nvSpPr>
          <p:cNvPr id="4" name="Rounded Rectangle 3"/>
          <p:cNvSpPr/>
          <p:nvPr/>
        </p:nvSpPr>
        <p:spPr>
          <a:xfrm>
            <a:off x="731520" y="2194560"/>
            <a:ext cx="2926080" cy="1554480"/>
          </a:xfrm>
          <a:prstGeom prst="roundRect">
            <a:avLst/>
          </a:prstGeom>
          <a:solidFill>
            <a:srgbClr val="FAF7F0"/>
          </a:solidFill>
          <a:ln w="15875">
            <a:solidFill>
              <a:srgbClr val="1B2A4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1B2A41"/>
                </a:solidFill>
                <a:latin typeface="Avenir Next"/>
              </a:rPr>
              <a:t>Entry N</a:t>
            </a:r>
          </a:p>
          <a:p>
            <a:pPr algn="ctr"/>
            <a:r>
              <a:rPr sz="1200" b="0">
                <a:solidFill>
                  <a:srgbClr val="1B2A41"/>
                </a:solidFill>
                <a:latin typeface="Avenir Next"/>
              </a:rPr>
              <a:t>artifact hash</a:t>
            </a:r>
          </a:p>
          <a:p>
            <a:pPr algn="ctr"/>
            <a:r>
              <a:rPr sz="1200" b="0">
                <a:solidFill>
                  <a:srgbClr val="1B2A41"/>
                </a:solidFill>
                <a:latin typeface="Avenir Next"/>
              </a:rPr>
              <a:t>timestamp</a:t>
            </a:r>
          </a:p>
          <a:p>
            <a:pPr algn="ctr"/>
            <a:r>
              <a:rPr sz="1200" b="0">
                <a:solidFill>
                  <a:srgbClr val="1B2A41"/>
                </a:solidFill>
                <a:latin typeface="Avenir Next"/>
              </a:rPr>
              <a:t>attributes</a:t>
            </a:r>
          </a:p>
        </p:txBody>
      </p:sp>
      <p:sp>
        <p:nvSpPr>
          <p:cNvPr id="5" name="Rounded Rectangle 4"/>
          <p:cNvSpPr/>
          <p:nvPr/>
        </p:nvSpPr>
        <p:spPr>
          <a:xfrm>
            <a:off x="4206240" y="1828800"/>
            <a:ext cx="1737360" cy="731520"/>
          </a:xfrm>
          <a:prstGeom prst="roundRect">
            <a:avLst/>
          </a:prstGeom>
          <a:solidFill>
            <a:srgbClr val="E7EEF2"/>
          </a:solidFill>
          <a:ln w="15875">
            <a:solidFill>
              <a:srgbClr val="0E7C7B"/>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B2A41"/>
                </a:solidFill>
                <a:latin typeface="Avenir Next"/>
              </a:rPr>
              <a:t>key (IKM)</a:t>
            </a:r>
          </a:p>
        </p:txBody>
      </p:sp>
      <p:cxnSp>
        <p:nvCxnSpPr>
          <p:cNvPr id="6" name="Connector 5"/>
          <p:cNvCxnSpPr/>
          <p:nvPr/>
        </p:nvCxnSpPr>
        <p:spPr>
          <a:xfrm>
            <a:off x="3657600" y="2971800"/>
            <a:ext cx="2651760" cy="0"/>
          </a:xfrm>
          <a:prstGeom prst="line">
            <a:avLst/>
          </a:prstGeom>
          <a:ln w="22225">
            <a:solidFill>
              <a:srgbClr val="1B2A41"/>
            </a:solidFill>
            <a:tailEnd type="arrow"/>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5074920" y="2560320"/>
            <a:ext cx="1234440" cy="320040"/>
          </a:xfrm>
          <a:prstGeom prst="line">
            <a:avLst/>
          </a:prstGeom>
          <a:ln w="22225">
            <a:solidFill>
              <a:srgbClr val="0E7C7B"/>
            </a:solidFill>
            <a:tailEnd type="arrow"/>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6400800" y="2560320"/>
            <a:ext cx="3017520" cy="822960"/>
          </a:xfrm>
          <a:prstGeom prst="roundRect">
            <a:avLst/>
          </a:prstGeom>
          <a:solidFill>
            <a:srgbClr val="E7EEF2"/>
          </a:solidFill>
          <a:ln w="15875">
            <a:solidFill>
              <a:srgbClr val="0E7C7B"/>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a:solidFill>
                  <a:srgbClr val="1B2A41"/>
                </a:solidFill>
                <a:latin typeface="Menlo"/>
              </a:rPr>
              <a:t>MAC = 5d81…e903</a:t>
            </a:r>
          </a:p>
        </p:txBody>
      </p:sp>
      <p:sp>
        <p:nvSpPr>
          <p:cNvPr id="9" name="TextBox 8"/>
          <p:cNvSpPr txBox="1"/>
          <p:nvPr/>
        </p:nvSpPr>
        <p:spPr>
          <a:xfrm>
            <a:off x="731520" y="4297680"/>
            <a:ext cx="10881360" cy="1645920"/>
          </a:xfrm>
          <a:prstGeom prst="rect">
            <a:avLst/>
          </a:prstGeom>
          <a:noFill/>
        </p:spPr>
        <p:txBody>
          <a:bodyPr wrap="square">
            <a:spAutoFit/>
          </a:bodyPr>
          <a:lstStyle/>
          <a:p>
            <a:pPr algn="l"/>
            <a:r>
              <a:rPr sz="1500" b="0" i="0">
                <a:solidFill>
                  <a:srgbClr val="1B2A41"/>
                </a:solidFill>
                <a:latin typeface="Avenir Next"/>
              </a:rPr>
              <a:t>A plain hash proves the bytes are intact. A keyed hash (MAC) proves the bytes are intact AND were</a:t>
            </a:r>
          </a:p>
          <a:p>
            <a:pPr algn="l"/>
            <a:r>
              <a:rPr sz="1500" b="0" i="0">
                <a:solidFill>
                  <a:srgbClr val="1B2A41"/>
                </a:solidFill>
                <a:latin typeface="Avenir Next"/>
              </a:rPr>
              <a:t>committed by something holding the key. Keys live in a registry; the registry's own integrity is the</a:t>
            </a:r>
          </a:p>
          <a:p>
            <a:pPr algn="l"/>
            <a:r>
              <a:rPr sz="1500" b="0" i="0">
                <a:solidFill>
                  <a:srgbClr val="1B2A41"/>
                </a:solidFill>
                <a:latin typeface="Avenir Next"/>
              </a:rPr>
              <a:t>manifest's job (slide 6). One MAC per event — this is the per-event layer.</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AF7F0"/>
        </a:solidFill>
        <a:effectLst/>
      </p:bgPr>
    </p:bg>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spAutoFit/>
          </a:bodyPr>
          <a:lstStyle/>
          <a:p>
            <a:pPr algn="l"/>
            <a:r>
              <a:rPr sz="3000" b="1" i="0">
                <a:solidFill>
                  <a:srgbClr val="1B2A41"/>
                </a:solidFill>
                <a:latin typeface="Avenir Next"/>
              </a:rPr>
              <a:t>Building block 3 — the chain</a:t>
            </a:r>
          </a:p>
        </p:txBody>
      </p:sp>
      <p:sp>
        <p:nvSpPr>
          <p:cNvPr id="3" name="TextBox 2"/>
          <p:cNvSpPr txBox="1"/>
          <p:nvPr/>
        </p:nvSpPr>
        <p:spPr>
          <a:xfrm>
            <a:off x="548640" y="960120"/>
            <a:ext cx="11064240" cy="457200"/>
          </a:xfrm>
          <a:prstGeom prst="rect">
            <a:avLst/>
          </a:prstGeom>
          <a:noFill/>
        </p:spPr>
        <p:txBody>
          <a:bodyPr wrap="square">
            <a:spAutoFit/>
          </a:bodyPr>
          <a:lstStyle/>
          <a:p>
            <a:pPr algn="l"/>
            <a:r>
              <a:rPr sz="1500" b="0" i="1">
                <a:solidFill>
                  <a:srgbClr val="6B7480"/>
                </a:solidFill>
                <a:latin typeface="Avenir Next"/>
              </a:rPr>
              <a:t>Every entry binds the previous entry's hash: order becomes provable</a:t>
            </a:r>
          </a:p>
        </p:txBody>
      </p:sp>
      <p:sp>
        <p:nvSpPr>
          <p:cNvPr id="4" name="Rounded Rectangle 3"/>
          <p:cNvSpPr/>
          <p:nvPr/>
        </p:nvSpPr>
        <p:spPr>
          <a:xfrm>
            <a:off x="640080" y="2377440"/>
            <a:ext cx="2286000" cy="1554480"/>
          </a:xfrm>
          <a:prstGeom prst="roundRect">
            <a:avLst/>
          </a:prstGeom>
          <a:solidFill>
            <a:srgbClr val="FAF7F0"/>
          </a:solidFill>
          <a:ln w="15875">
            <a:solidFill>
              <a:srgbClr val="1B2A4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1B2A41"/>
                </a:solidFill>
                <a:latin typeface="Avenir Next"/>
              </a:rPr>
              <a:t>Entry 1</a:t>
            </a:r>
          </a:p>
          <a:p>
            <a:pPr algn="ctr"/>
            <a:r>
              <a:rPr sz="1200" b="0">
                <a:solidFill>
                  <a:srgbClr val="1B2A41"/>
                </a:solidFill>
                <a:latin typeface="Avenir Next"/>
              </a:rPr>
              <a:t>prev: —</a:t>
            </a:r>
          </a:p>
          <a:p>
            <a:pPr algn="ctr"/>
            <a:r>
              <a:rPr sz="1200" b="0">
                <a:solidFill>
                  <a:srgbClr val="1B2A41"/>
                </a:solidFill>
                <a:latin typeface="Menlo"/>
              </a:rPr>
              <a:t>H1 = 9f2c…</a:t>
            </a:r>
          </a:p>
        </p:txBody>
      </p:sp>
      <p:sp>
        <p:nvSpPr>
          <p:cNvPr id="5" name="Rounded Rectangle 4"/>
          <p:cNvSpPr/>
          <p:nvPr/>
        </p:nvSpPr>
        <p:spPr>
          <a:xfrm>
            <a:off x="3520440" y="2377440"/>
            <a:ext cx="2286000" cy="1554480"/>
          </a:xfrm>
          <a:prstGeom prst="roundRect">
            <a:avLst/>
          </a:prstGeom>
          <a:solidFill>
            <a:srgbClr val="FAF7F0"/>
          </a:solidFill>
          <a:ln w="15875">
            <a:solidFill>
              <a:srgbClr val="1B2A4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1B2A41"/>
                </a:solidFill>
                <a:latin typeface="Avenir Next"/>
              </a:rPr>
              <a:t>Entry 2</a:t>
            </a:r>
          </a:p>
          <a:p>
            <a:pPr algn="ctr"/>
            <a:r>
              <a:rPr sz="1200" b="0">
                <a:solidFill>
                  <a:srgbClr val="1B2A41"/>
                </a:solidFill>
                <a:latin typeface="Avenir Next"/>
              </a:rPr>
              <a:t>prev: H1</a:t>
            </a:r>
          </a:p>
          <a:p>
            <a:pPr algn="ctr"/>
            <a:r>
              <a:rPr sz="1200" b="0">
                <a:solidFill>
                  <a:srgbClr val="1B2A41"/>
                </a:solidFill>
                <a:latin typeface="Menlo"/>
              </a:rPr>
              <a:t>H2 = 41aa…</a:t>
            </a:r>
          </a:p>
        </p:txBody>
      </p:sp>
      <p:sp>
        <p:nvSpPr>
          <p:cNvPr id="6" name="Rounded Rectangle 5"/>
          <p:cNvSpPr/>
          <p:nvPr/>
        </p:nvSpPr>
        <p:spPr>
          <a:xfrm>
            <a:off x="6400800" y="2377440"/>
            <a:ext cx="2286000" cy="1554480"/>
          </a:xfrm>
          <a:prstGeom prst="roundRect">
            <a:avLst/>
          </a:prstGeom>
          <a:solidFill>
            <a:srgbClr val="FAF7F0"/>
          </a:solidFill>
          <a:ln w="15875">
            <a:solidFill>
              <a:srgbClr val="1B2A4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1B2A41"/>
                </a:solidFill>
                <a:latin typeface="Avenir Next"/>
              </a:rPr>
              <a:t>Entry 3</a:t>
            </a:r>
          </a:p>
          <a:p>
            <a:pPr algn="ctr"/>
            <a:r>
              <a:rPr sz="1200" b="0">
                <a:solidFill>
                  <a:srgbClr val="1B2A41"/>
                </a:solidFill>
                <a:latin typeface="Avenir Next"/>
              </a:rPr>
              <a:t>prev: H2</a:t>
            </a:r>
          </a:p>
          <a:p>
            <a:pPr algn="ctr"/>
            <a:r>
              <a:rPr sz="1200" b="0">
                <a:solidFill>
                  <a:srgbClr val="1B2A41"/>
                </a:solidFill>
                <a:latin typeface="Menlo"/>
              </a:rPr>
              <a:t>H3 = c07f…</a:t>
            </a:r>
          </a:p>
        </p:txBody>
      </p:sp>
      <p:sp>
        <p:nvSpPr>
          <p:cNvPr id="7" name="Rounded Rectangle 6"/>
          <p:cNvSpPr/>
          <p:nvPr/>
        </p:nvSpPr>
        <p:spPr>
          <a:xfrm>
            <a:off x="9281160" y="2377440"/>
            <a:ext cx="2286000" cy="1554480"/>
          </a:xfrm>
          <a:prstGeom prst="roundRect">
            <a:avLst/>
          </a:prstGeom>
          <a:solidFill>
            <a:srgbClr val="FAF7F0"/>
          </a:solidFill>
          <a:ln w="15875">
            <a:solidFill>
              <a:srgbClr val="1B2A4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1B2A41"/>
                </a:solidFill>
                <a:latin typeface="Avenir Next"/>
              </a:rPr>
              <a:t>Entry 4</a:t>
            </a:r>
          </a:p>
          <a:p>
            <a:pPr algn="ctr"/>
            <a:r>
              <a:rPr sz="1200" b="0">
                <a:solidFill>
                  <a:srgbClr val="1B2A41"/>
                </a:solidFill>
                <a:latin typeface="Avenir Next"/>
              </a:rPr>
              <a:t>prev: H3</a:t>
            </a:r>
          </a:p>
          <a:p>
            <a:pPr algn="ctr"/>
            <a:r>
              <a:rPr sz="1200" b="0">
                <a:solidFill>
                  <a:srgbClr val="1B2A41"/>
                </a:solidFill>
                <a:latin typeface="Menlo"/>
              </a:rPr>
              <a:t>H4 = 88d1…</a:t>
            </a:r>
          </a:p>
        </p:txBody>
      </p:sp>
      <p:cxnSp>
        <p:nvCxnSpPr>
          <p:cNvPr id="8" name="Connector 7"/>
          <p:cNvCxnSpPr/>
          <p:nvPr/>
        </p:nvCxnSpPr>
        <p:spPr>
          <a:xfrm>
            <a:off x="2926080" y="3154680"/>
            <a:ext cx="594359" cy="0"/>
          </a:xfrm>
          <a:prstGeom prst="line">
            <a:avLst/>
          </a:prstGeom>
          <a:ln w="28575">
            <a:solidFill>
              <a:srgbClr val="0E7C7B"/>
            </a:solidFill>
            <a:tailEnd type="arrow"/>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5806440" y="3154680"/>
            <a:ext cx="594360" cy="0"/>
          </a:xfrm>
          <a:prstGeom prst="line">
            <a:avLst/>
          </a:prstGeom>
          <a:ln w="28575">
            <a:solidFill>
              <a:srgbClr val="0E7C7B"/>
            </a:solidFill>
            <a:tailEnd type="arrow"/>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8686800" y="3154680"/>
            <a:ext cx="594360" cy="0"/>
          </a:xfrm>
          <a:prstGeom prst="line">
            <a:avLst/>
          </a:prstGeom>
          <a:ln w="28575">
            <a:solidFill>
              <a:srgbClr val="0E7C7B"/>
            </a:solidFill>
            <a:tailEnd type="arrow"/>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731520" y="4480560"/>
            <a:ext cx="10881360" cy="1463040"/>
          </a:xfrm>
          <a:prstGeom prst="rect">
            <a:avLst/>
          </a:prstGeom>
          <a:noFill/>
        </p:spPr>
        <p:txBody>
          <a:bodyPr wrap="square">
            <a:spAutoFit/>
          </a:bodyPr>
          <a:lstStyle/>
          <a:p>
            <a:pPr algn="l"/>
            <a:r>
              <a:rPr sz="1500" b="0" i="0">
                <a:solidFill>
                  <a:srgbClr val="1B2A41"/>
                </a:solidFill>
                <a:latin typeface="Avenir Next"/>
              </a:rPr>
              <a:t>Each entry's hash covers the previous entry's hash. Insert, delete, or reorder anything and the links</a:t>
            </a:r>
          </a:p>
          <a:p>
            <a:pPr algn="l"/>
            <a:r>
              <a:rPr sz="1500" b="0" i="0">
                <a:solidFill>
                  <a:srgbClr val="1B2A41"/>
                </a:solidFill>
                <a:latin typeface="Avenir Next"/>
              </a:rPr>
              <a:t>stop matching. The chain doesn't just protect records — it protects the SEQUENCE of records,</a:t>
            </a:r>
          </a:p>
          <a:p>
            <a:pPr algn="l"/>
            <a:r>
              <a:rPr sz="1500" b="0" i="0">
                <a:solidFill>
                  <a:srgbClr val="1B2A41"/>
                </a:solidFill>
                <a:latin typeface="Avenir Next"/>
              </a:rPr>
              <a:t>which is what lets an ordering claim ("notice A preceded notice B") be proved, not asserted.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AF7F0"/>
        </a:solidFill>
        <a:effectLst/>
      </p:bgPr>
    </p:bg>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spAutoFit/>
          </a:bodyPr>
          <a:lstStyle/>
          <a:p>
            <a:pPr algn="l"/>
            <a:r>
              <a:rPr sz="3000" b="1" i="0">
                <a:solidFill>
                  <a:srgbClr val="1B2A41"/>
                </a:solidFill>
                <a:latin typeface="Avenir Next"/>
              </a:rPr>
              <a:t>Building block 4 — the Merkle tree and the daily seal</a:t>
            </a:r>
          </a:p>
        </p:txBody>
      </p:sp>
      <p:sp>
        <p:nvSpPr>
          <p:cNvPr id="3" name="TextBox 2"/>
          <p:cNvSpPr txBox="1"/>
          <p:nvPr/>
        </p:nvSpPr>
        <p:spPr>
          <a:xfrm>
            <a:off x="548640" y="960120"/>
            <a:ext cx="11064240" cy="457200"/>
          </a:xfrm>
          <a:prstGeom prst="rect">
            <a:avLst/>
          </a:prstGeom>
          <a:noFill/>
        </p:spPr>
        <p:txBody>
          <a:bodyPr wrap="square">
            <a:spAutoFit/>
          </a:bodyPr>
          <a:lstStyle/>
          <a:p>
            <a:pPr algn="l"/>
            <a:r>
              <a:rPr sz="1500" b="0" i="1">
                <a:solidFill>
                  <a:srgbClr val="6B7480"/>
                </a:solidFill>
                <a:latin typeface="Avenir Next"/>
              </a:rPr>
              <a:t>The day's entries roll up to one root; the root gets signed and published</a:t>
            </a:r>
          </a:p>
        </p:txBody>
      </p:sp>
      <p:sp>
        <p:nvSpPr>
          <p:cNvPr id="4" name="Rounded Rectangle 3"/>
          <p:cNvSpPr/>
          <p:nvPr/>
        </p:nvSpPr>
        <p:spPr>
          <a:xfrm>
            <a:off x="914400" y="4937760"/>
            <a:ext cx="1737360" cy="685800"/>
          </a:xfrm>
          <a:prstGeom prst="roundRect">
            <a:avLst/>
          </a:prstGeom>
          <a:solidFill>
            <a:srgbClr val="FAF7F0"/>
          </a:solidFill>
          <a:ln w="15875">
            <a:solidFill>
              <a:srgbClr val="1B2A4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0">
                <a:solidFill>
                  <a:srgbClr val="1B2A41"/>
                </a:solidFill>
                <a:latin typeface="Menlo"/>
              </a:rPr>
              <a:t>H1</a:t>
            </a:r>
          </a:p>
        </p:txBody>
      </p:sp>
      <p:sp>
        <p:nvSpPr>
          <p:cNvPr id="5" name="Rounded Rectangle 4"/>
          <p:cNvSpPr/>
          <p:nvPr/>
        </p:nvSpPr>
        <p:spPr>
          <a:xfrm>
            <a:off x="3017520" y="4937760"/>
            <a:ext cx="1737360" cy="685800"/>
          </a:xfrm>
          <a:prstGeom prst="roundRect">
            <a:avLst/>
          </a:prstGeom>
          <a:solidFill>
            <a:srgbClr val="FAF7F0"/>
          </a:solidFill>
          <a:ln w="15875">
            <a:solidFill>
              <a:srgbClr val="1B2A4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0">
                <a:solidFill>
                  <a:srgbClr val="1B2A41"/>
                </a:solidFill>
                <a:latin typeface="Menlo"/>
              </a:rPr>
              <a:t>H2</a:t>
            </a:r>
          </a:p>
        </p:txBody>
      </p:sp>
      <p:sp>
        <p:nvSpPr>
          <p:cNvPr id="6" name="Rounded Rectangle 5"/>
          <p:cNvSpPr/>
          <p:nvPr/>
        </p:nvSpPr>
        <p:spPr>
          <a:xfrm>
            <a:off x="5120640" y="4937760"/>
            <a:ext cx="1737360" cy="685800"/>
          </a:xfrm>
          <a:prstGeom prst="roundRect">
            <a:avLst/>
          </a:prstGeom>
          <a:solidFill>
            <a:srgbClr val="FAF7F0"/>
          </a:solidFill>
          <a:ln w="15875">
            <a:solidFill>
              <a:srgbClr val="1B2A4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0">
                <a:solidFill>
                  <a:srgbClr val="1B2A41"/>
                </a:solidFill>
                <a:latin typeface="Menlo"/>
              </a:rPr>
              <a:t>H3</a:t>
            </a:r>
          </a:p>
        </p:txBody>
      </p:sp>
      <p:sp>
        <p:nvSpPr>
          <p:cNvPr id="7" name="Rounded Rectangle 6"/>
          <p:cNvSpPr/>
          <p:nvPr/>
        </p:nvSpPr>
        <p:spPr>
          <a:xfrm>
            <a:off x="7223760" y="4937760"/>
            <a:ext cx="1737360" cy="685800"/>
          </a:xfrm>
          <a:prstGeom prst="roundRect">
            <a:avLst/>
          </a:prstGeom>
          <a:solidFill>
            <a:srgbClr val="FAF7F0"/>
          </a:solidFill>
          <a:ln w="15875">
            <a:solidFill>
              <a:srgbClr val="1B2A4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0">
                <a:solidFill>
                  <a:srgbClr val="1B2A41"/>
                </a:solidFill>
                <a:latin typeface="Menlo"/>
              </a:rPr>
              <a:t>H4</a:t>
            </a:r>
          </a:p>
        </p:txBody>
      </p:sp>
      <p:sp>
        <p:nvSpPr>
          <p:cNvPr id="8" name="Rounded Rectangle 7"/>
          <p:cNvSpPr/>
          <p:nvPr/>
        </p:nvSpPr>
        <p:spPr>
          <a:xfrm>
            <a:off x="1965960" y="3703320"/>
            <a:ext cx="1737360" cy="685800"/>
          </a:xfrm>
          <a:prstGeom prst="roundRect">
            <a:avLst/>
          </a:prstGeom>
          <a:solidFill>
            <a:srgbClr val="E7EEF2"/>
          </a:solidFill>
          <a:ln w="15875">
            <a:solidFill>
              <a:srgbClr val="1B2A4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0">
                <a:solidFill>
                  <a:srgbClr val="1B2A41"/>
                </a:solidFill>
                <a:latin typeface="Menlo"/>
              </a:rPr>
              <a:t>H12 = h(H1|H2)</a:t>
            </a:r>
          </a:p>
        </p:txBody>
      </p:sp>
      <p:sp>
        <p:nvSpPr>
          <p:cNvPr id="9" name="Rounded Rectangle 8"/>
          <p:cNvSpPr/>
          <p:nvPr/>
        </p:nvSpPr>
        <p:spPr>
          <a:xfrm>
            <a:off x="6172200" y="3703320"/>
            <a:ext cx="1737360" cy="685800"/>
          </a:xfrm>
          <a:prstGeom prst="roundRect">
            <a:avLst/>
          </a:prstGeom>
          <a:solidFill>
            <a:srgbClr val="E7EEF2"/>
          </a:solidFill>
          <a:ln w="15875">
            <a:solidFill>
              <a:srgbClr val="1B2A4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0">
                <a:solidFill>
                  <a:srgbClr val="1B2A41"/>
                </a:solidFill>
                <a:latin typeface="Menlo"/>
              </a:rPr>
              <a:t>H34 = h(H3|H4)</a:t>
            </a:r>
          </a:p>
        </p:txBody>
      </p:sp>
      <p:sp>
        <p:nvSpPr>
          <p:cNvPr id="10" name="Rounded Rectangle 9"/>
          <p:cNvSpPr/>
          <p:nvPr/>
        </p:nvSpPr>
        <p:spPr>
          <a:xfrm>
            <a:off x="4069080" y="2468880"/>
            <a:ext cx="1737360" cy="777240"/>
          </a:xfrm>
          <a:prstGeom prst="roundRect">
            <a:avLst/>
          </a:prstGeom>
          <a:solidFill>
            <a:srgbClr val="E7EEF2"/>
          </a:solidFill>
          <a:ln w="15875">
            <a:solidFill>
              <a:srgbClr val="0E7C7B"/>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B2A41"/>
                </a:solidFill>
                <a:latin typeface="Menlo"/>
              </a:rPr>
              <a:t>ROOT</a:t>
            </a:r>
          </a:p>
          <a:p>
            <a:pPr algn="ctr"/>
            <a:r>
              <a:rPr sz="1200" b="1">
                <a:solidFill>
                  <a:srgbClr val="1B2A41"/>
                </a:solidFill>
                <a:latin typeface="Avenir Next"/>
              </a:rPr>
              <a:t>h(H12|H34)</a:t>
            </a:r>
          </a:p>
        </p:txBody>
      </p:sp>
      <p:cxnSp>
        <p:nvCxnSpPr>
          <p:cNvPr id="11" name="Connector 10"/>
          <p:cNvCxnSpPr/>
          <p:nvPr/>
        </p:nvCxnSpPr>
        <p:spPr>
          <a:xfrm flipV="1">
            <a:off x="1783080" y="4389120"/>
            <a:ext cx="868680" cy="548640"/>
          </a:xfrm>
          <a:prstGeom prst="line">
            <a:avLst/>
          </a:prstGeom>
          <a:ln w="22225">
            <a:solidFill>
              <a:srgbClr val="1B2A41"/>
            </a:solidFill>
            <a:tailEnd type="arrow"/>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H="1" flipV="1">
            <a:off x="3017520" y="4389120"/>
            <a:ext cx="868680" cy="548640"/>
          </a:xfrm>
          <a:prstGeom prst="line">
            <a:avLst/>
          </a:prstGeom>
          <a:ln w="22225">
            <a:solidFill>
              <a:srgbClr val="1B2A41"/>
            </a:solidFill>
            <a:tailEnd type="arrow"/>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5989320" y="4389120"/>
            <a:ext cx="868680" cy="548640"/>
          </a:xfrm>
          <a:prstGeom prst="line">
            <a:avLst/>
          </a:prstGeom>
          <a:ln w="22225">
            <a:solidFill>
              <a:srgbClr val="1B2A41"/>
            </a:solidFill>
            <a:tailEnd type="arrow"/>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H="1" flipV="1">
            <a:off x="7223760" y="4389120"/>
            <a:ext cx="868680" cy="548640"/>
          </a:xfrm>
          <a:prstGeom prst="line">
            <a:avLst/>
          </a:prstGeom>
          <a:ln w="22225">
            <a:solidFill>
              <a:srgbClr val="1B2A41"/>
            </a:solidFill>
            <a:tailEnd type="arrow"/>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flipV="1">
            <a:off x="2834640" y="3246120"/>
            <a:ext cx="1645920" cy="457200"/>
          </a:xfrm>
          <a:prstGeom prst="line">
            <a:avLst/>
          </a:prstGeom>
          <a:ln w="22225">
            <a:solidFill>
              <a:srgbClr val="1B2A41"/>
            </a:solidFill>
            <a:tailEnd type="arrow"/>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flipH="1" flipV="1">
            <a:off x="5394960" y="3246120"/>
            <a:ext cx="1645920" cy="457200"/>
          </a:xfrm>
          <a:prstGeom prst="line">
            <a:avLst/>
          </a:prstGeom>
          <a:ln w="22225">
            <a:solidFill>
              <a:srgbClr val="1B2A41"/>
            </a:solidFill>
            <a:tailEnd type="arrow"/>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8869680" y="2377440"/>
            <a:ext cx="2743200" cy="960120"/>
          </a:xfrm>
          <a:prstGeom prst="roundRect">
            <a:avLst/>
          </a:prstGeom>
          <a:solidFill>
            <a:srgbClr val="1B2A41"/>
          </a:solidFill>
          <a:ln w="15875">
            <a:solidFill>
              <a:srgbClr val="1B2A4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FAF7F0"/>
                </a:solidFill>
                <a:latin typeface="Menlo"/>
              </a:rPr>
              <a:t>HSM signs the root</a:t>
            </a:r>
          </a:p>
          <a:p>
            <a:pPr algn="ctr"/>
            <a:r>
              <a:rPr sz="1200" b="1">
                <a:solidFill>
                  <a:srgbClr val="FAF7F0"/>
                </a:solidFill>
                <a:latin typeface="Avenir Next"/>
              </a:rPr>
              <a:t>(key never leaves</a:t>
            </a:r>
          </a:p>
          <a:p>
            <a:pPr algn="ctr"/>
            <a:r>
              <a:rPr sz="1200" b="1">
                <a:solidFill>
                  <a:srgbClr val="FAF7F0"/>
                </a:solidFill>
                <a:latin typeface="Avenir Next"/>
              </a:rPr>
              <a:t>the hardware)</a:t>
            </a:r>
          </a:p>
        </p:txBody>
      </p:sp>
      <p:cxnSp>
        <p:nvCxnSpPr>
          <p:cNvPr id="18" name="Connector 17"/>
          <p:cNvCxnSpPr/>
          <p:nvPr/>
        </p:nvCxnSpPr>
        <p:spPr>
          <a:xfrm>
            <a:off x="5806440" y="2834640"/>
            <a:ext cx="3063240" cy="0"/>
          </a:xfrm>
          <a:prstGeom prst="line">
            <a:avLst/>
          </a:prstGeom>
          <a:ln w="28575">
            <a:solidFill>
              <a:srgbClr val="0E7C7B"/>
            </a:solidFill>
            <a:tailEnd type="arrow"/>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8869680" y="3749039"/>
            <a:ext cx="2743200" cy="960120"/>
          </a:xfrm>
          <a:prstGeom prst="roundRect">
            <a:avLst/>
          </a:prstGeom>
          <a:solidFill>
            <a:srgbClr val="E7EEF2"/>
          </a:solidFill>
          <a:ln w="15875">
            <a:solidFill>
              <a:srgbClr val="0E7C7B"/>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1B2A41"/>
                </a:solidFill>
                <a:latin typeface="Avenir Next"/>
              </a:rPr>
              <a:t>Published externally</a:t>
            </a:r>
          </a:p>
          <a:p>
            <a:pPr algn="ctr"/>
            <a:r>
              <a:rPr sz="1200" b="0">
                <a:solidFill>
                  <a:srgbClr val="1B2A41"/>
                </a:solidFill>
                <a:latin typeface="Avenir Next"/>
              </a:rPr>
              <a:t>(a place the bank's</a:t>
            </a:r>
          </a:p>
          <a:p>
            <a:pPr algn="ctr"/>
            <a:r>
              <a:rPr sz="1200" b="0">
                <a:solidFill>
                  <a:srgbClr val="1B2A41"/>
                </a:solidFill>
                <a:latin typeface="Avenir Next"/>
              </a:rPr>
              <a:t>own accounts can't edit)</a:t>
            </a:r>
          </a:p>
        </p:txBody>
      </p:sp>
      <p:cxnSp>
        <p:nvCxnSpPr>
          <p:cNvPr id="20" name="Connector 19"/>
          <p:cNvCxnSpPr/>
          <p:nvPr/>
        </p:nvCxnSpPr>
        <p:spPr>
          <a:xfrm>
            <a:off x="10241280" y="3337560"/>
            <a:ext cx="0" cy="411479"/>
          </a:xfrm>
          <a:prstGeom prst="line">
            <a:avLst/>
          </a:prstGeom>
          <a:ln w="28575">
            <a:solidFill>
              <a:srgbClr val="0E7C7B"/>
            </a:solidFill>
            <a:tailEnd type="arrow"/>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731520" y="5897880"/>
            <a:ext cx="10972800" cy="640080"/>
          </a:xfrm>
          <a:prstGeom prst="rect">
            <a:avLst/>
          </a:prstGeom>
          <a:noFill/>
        </p:spPr>
        <p:txBody>
          <a:bodyPr wrap="square">
            <a:spAutoFit/>
          </a:bodyPr>
          <a:lstStyle/>
          <a:p>
            <a:pPr algn="l"/>
            <a:r>
              <a:rPr sz="1500" b="0" i="1">
                <a:solidFill>
                  <a:srgbClr val="1B2A41"/>
                </a:solidFill>
                <a:latin typeface="Avenir Next"/>
              </a:rPr>
              <a:t>That signed, published root is the daily seal — a one-way door closing behind the day's evidence.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AF7F0"/>
        </a:solidFill>
        <a:effectLst/>
      </p:bgPr>
    </p:bg>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spAutoFit/>
          </a:bodyPr>
          <a:lstStyle/>
          <a:p>
            <a:pPr algn="l"/>
            <a:r>
              <a:rPr sz="3000" b="1" i="0">
                <a:solidFill>
                  <a:srgbClr val="1B2A41"/>
                </a:solidFill>
                <a:latin typeface="Avenir Next"/>
              </a:rPr>
              <a:t>The key registry manifest</a:t>
            </a:r>
          </a:p>
        </p:txBody>
      </p:sp>
      <p:sp>
        <p:nvSpPr>
          <p:cNvPr id="3" name="TextBox 2"/>
          <p:cNvSpPr txBox="1"/>
          <p:nvPr/>
        </p:nvSpPr>
        <p:spPr>
          <a:xfrm>
            <a:off x="548640" y="960120"/>
            <a:ext cx="11064240" cy="457200"/>
          </a:xfrm>
          <a:prstGeom prst="rect">
            <a:avLst/>
          </a:prstGeom>
          <a:noFill/>
        </p:spPr>
        <p:txBody>
          <a:bodyPr wrap="square">
            <a:spAutoFit/>
          </a:bodyPr>
          <a:lstStyle/>
          <a:p>
            <a:pPr algn="l"/>
            <a:r>
              <a:rPr sz="1500" b="0" i="1">
                <a:solidFill>
                  <a:srgbClr val="6B7480"/>
                </a:solidFill>
                <a:latin typeface="Avenir Next"/>
              </a:rPr>
              <a:t>Who vouches for the keys? A registry, itself HSM-signed, independently checkable</a:t>
            </a:r>
          </a:p>
        </p:txBody>
      </p:sp>
      <p:sp>
        <p:nvSpPr>
          <p:cNvPr id="4" name="Rounded Rectangle 3"/>
          <p:cNvSpPr/>
          <p:nvPr/>
        </p:nvSpPr>
        <p:spPr>
          <a:xfrm>
            <a:off x="731520" y="2103120"/>
            <a:ext cx="4206240" cy="2651760"/>
          </a:xfrm>
          <a:prstGeom prst="roundRect">
            <a:avLst/>
          </a:prstGeom>
          <a:solidFill>
            <a:srgbClr val="FAF7F0"/>
          </a:solidFill>
          <a:ln w="15875">
            <a:solidFill>
              <a:srgbClr val="1B2A4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0">
                <a:solidFill>
                  <a:srgbClr val="1B2A41"/>
                </a:solidFill>
                <a:latin typeface="Avenir Next"/>
              </a:rPr>
              <a:t>IKM key registry</a:t>
            </a:r>
          </a:p>
          <a:p>
            <a:pPr algn="ctr"/>
          </a:p>
          <a:p>
            <a:pPr algn="ctr"/>
            <a:r>
              <a:rPr sz="1300" b="0">
                <a:solidFill>
                  <a:srgbClr val="1B2A41"/>
                </a:solidFill>
                <a:latin typeface="Avenir Next"/>
              </a:rPr>
              <a:t>key #12  valid 2026-01→</a:t>
            </a:r>
          </a:p>
          <a:p>
            <a:pPr algn="ctr"/>
            <a:r>
              <a:rPr sz="1300" b="0">
                <a:solidFill>
                  <a:srgbClr val="1B2A41"/>
                </a:solidFill>
                <a:latin typeface="Avenir Next"/>
              </a:rPr>
              <a:t>key #13  valid 2026-04→</a:t>
            </a:r>
          </a:p>
          <a:p>
            <a:pPr algn="ctr"/>
            <a:r>
              <a:rPr sz="1300" b="0">
                <a:solidFill>
                  <a:srgbClr val="1B2A41"/>
                </a:solidFill>
                <a:latin typeface="Avenir Next"/>
              </a:rPr>
              <a:t>key #14  valid 2026-07→</a:t>
            </a:r>
          </a:p>
          <a:p>
            <a:pPr algn="ctr"/>
          </a:p>
          <a:p>
            <a:pPr algn="ctr"/>
            <a:r>
              <a:rPr sz="1300" b="0">
                <a:solidFill>
                  <a:srgbClr val="1B2A41"/>
                </a:solidFill>
                <a:latin typeface="Avenir Next"/>
              </a:rPr>
              <a:t>fingerprints, rotation dates,</a:t>
            </a:r>
          </a:p>
          <a:p>
            <a:pPr algn="ctr"/>
            <a:r>
              <a:rPr sz="1300" b="0">
                <a:solidFill>
                  <a:srgbClr val="1B2A41"/>
                </a:solidFill>
                <a:latin typeface="Avenir Next"/>
              </a:rPr>
              <a:t>role separation</a:t>
            </a:r>
          </a:p>
        </p:txBody>
      </p:sp>
      <p:sp>
        <p:nvSpPr>
          <p:cNvPr id="5" name="Rounded Rectangle 4"/>
          <p:cNvSpPr/>
          <p:nvPr/>
        </p:nvSpPr>
        <p:spPr>
          <a:xfrm>
            <a:off x="5852160" y="2286000"/>
            <a:ext cx="2651760" cy="914400"/>
          </a:xfrm>
          <a:prstGeom prst="roundRect">
            <a:avLst/>
          </a:prstGeom>
          <a:solidFill>
            <a:srgbClr val="1B2A41"/>
          </a:solidFill>
          <a:ln w="15875">
            <a:solidFill>
              <a:srgbClr val="1B2A4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FAF7F0"/>
                </a:solidFill>
                <a:latin typeface="Menlo"/>
              </a:rPr>
              <a:t>HSM signature</a:t>
            </a:r>
          </a:p>
          <a:p>
            <a:pPr algn="ctr"/>
            <a:r>
              <a:rPr sz="1200" b="1">
                <a:solidFill>
                  <a:srgbClr val="FAF7F0"/>
                </a:solidFill>
                <a:latin typeface="Avenir Next"/>
              </a:rPr>
              <a:t>over the manifest</a:t>
            </a:r>
          </a:p>
        </p:txBody>
      </p:sp>
      <p:cxnSp>
        <p:nvCxnSpPr>
          <p:cNvPr id="6" name="Connector 5"/>
          <p:cNvCxnSpPr/>
          <p:nvPr/>
        </p:nvCxnSpPr>
        <p:spPr>
          <a:xfrm>
            <a:off x="4937760" y="2743200"/>
            <a:ext cx="914400" cy="0"/>
          </a:xfrm>
          <a:prstGeom prst="line">
            <a:avLst/>
          </a:prstGeom>
          <a:ln w="28575">
            <a:solidFill>
              <a:srgbClr val="0E7C7B"/>
            </a:solidFill>
            <a:tailEnd type="arrow"/>
          </a:ln>
        </p:spPr>
        <p:style>
          <a:lnRef idx="2">
            <a:schemeClr val="accent1"/>
          </a:lnRef>
          <a:fillRef idx="0">
            <a:schemeClr val="accent1"/>
          </a:fillRef>
          <a:effectRef idx="1">
            <a:schemeClr val="accent1"/>
          </a:effectRef>
          <a:fontRef idx="minor">
            <a:schemeClr val="tx1"/>
          </a:fontRef>
        </p:style>
      </p:cxnSp>
      <p:sp>
        <p:nvSpPr>
          <p:cNvPr id="7" name="Rounded Rectangle 6"/>
          <p:cNvSpPr/>
          <p:nvPr/>
        </p:nvSpPr>
        <p:spPr>
          <a:xfrm>
            <a:off x="9144000" y="2286000"/>
            <a:ext cx="2468880" cy="914400"/>
          </a:xfrm>
          <a:prstGeom prst="roundRect">
            <a:avLst/>
          </a:prstGeom>
          <a:solidFill>
            <a:srgbClr val="E7EEF2"/>
          </a:solidFill>
          <a:ln w="15875">
            <a:solidFill>
              <a:srgbClr val="0E7C7B"/>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0">
                <a:solidFill>
                  <a:srgbClr val="1B2A41"/>
                </a:solidFill>
                <a:latin typeface="Avenir Next"/>
              </a:rPr>
              <a:t>Examiner validates</a:t>
            </a:r>
          </a:p>
          <a:p>
            <a:pPr algn="ctr"/>
            <a:r>
              <a:rPr sz="1100" b="0">
                <a:solidFill>
                  <a:srgbClr val="1B2A41"/>
                </a:solidFill>
                <a:latin typeface="Avenir Next"/>
              </a:rPr>
              <a:t>against published root</a:t>
            </a:r>
          </a:p>
          <a:p>
            <a:pPr algn="ctr"/>
            <a:r>
              <a:rPr sz="1100" b="0">
                <a:solidFill>
                  <a:srgbClr val="1B2A41"/>
                </a:solidFill>
                <a:latin typeface="Avenir Next"/>
              </a:rPr>
              <a:t>with their OWN tooling</a:t>
            </a:r>
          </a:p>
        </p:txBody>
      </p:sp>
      <p:cxnSp>
        <p:nvCxnSpPr>
          <p:cNvPr id="8" name="Connector 7"/>
          <p:cNvCxnSpPr/>
          <p:nvPr/>
        </p:nvCxnSpPr>
        <p:spPr>
          <a:xfrm>
            <a:off x="8503920" y="2743200"/>
            <a:ext cx="640080" cy="0"/>
          </a:xfrm>
          <a:prstGeom prst="line">
            <a:avLst/>
          </a:prstGeom>
          <a:ln w="28575">
            <a:solidFill>
              <a:srgbClr val="0E7C7B"/>
            </a:solidFill>
            <a:tailEnd type="arrow"/>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731520" y="5120640"/>
            <a:ext cx="10972800" cy="1280160"/>
          </a:xfrm>
          <a:prstGeom prst="rect">
            <a:avLst/>
          </a:prstGeom>
          <a:noFill/>
        </p:spPr>
        <p:txBody>
          <a:bodyPr wrap="square">
            <a:spAutoFit/>
          </a:bodyPr>
          <a:lstStyle/>
          <a:p>
            <a:pPr algn="l"/>
            <a:r>
              <a:rPr sz="1500" b="0" i="0">
                <a:solidFill>
                  <a:srgbClr val="1B2A41"/>
                </a:solidFill>
                <a:latin typeface="Avenir Next"/>
              </a:rPr>
              <a:t>The role that holds the manifest's signing authority cannot request seals and cannot extract keys —</a:t>
            </a:r>
          </a:p>
          <a:p>
            <a:pPr algn="l"/>
            <a:r>
              <a:rPr sz="1500" b="0" i="0">
                <a:solidFill>
                  <a:srgbClr val="1B2A41"/>
                </a:solidFill>
                <a:latin typeface="Avenir Next"/>
              </a:rPr>
              <a:t>separation of duties enforced by hardware custody, not by policy documents.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AF7F0"/>
        </a:solidFill>
        <a:effectLst/>
      </p:bgPr>
    </p:bg>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spAutoFit/>
          </a:bodyPr>
          <a:lstStyle/>
          <a:p>
            <a:pPr algn="l"/>
            <a:r>
              <a:rPr sz="3000" b="1" i="0">
                <a:solidFill>
                  <a:srgbClr val="1B2A41"/>
                </a:solidFill>
                <a:latin typeface="Avenir Next"/>
              </a:rPr>
              <a:t>Walk it — what altering one old artifact costs</a:t>
            </a:r>
          </a:p>
        </p:txBody>
      </p:sp>
      <p:sp>
        <p:nvSpPr>
          <p:cNvPr id="3" name="TextBox 2"/>
          <p:cNvSpPr txBox="1"/>
          <p:nvPr/>
        </p:nvSpPr>
        <p:spPr>
          <a:xfrm>
            <a:off x="548640" y="960120"/>
            <a:ext cx="11064240" cy="457200"/>
          </a:xfrm>
          <a:prstGeom prst="rect">
            <a:avLst/>
          </a:prstGeom>
          <a:noFill/>
        </p:spPr>
        <p:txBody>
          <a:bodyPr wrap="square">
            <a:spAutoFit/>
          </a:bodyPr>
          <a:lstStyle/>
          <a:p>
            <a:pPr algn="l"/>
            <a:r>
              <a:rPr sz="1500" b="0" i="1">
                <a:solidFill>
                  <a:srgbClr val="6B7480"/>
                </a:solidFill>
                <a:latin typeface="Avenir Next"/>
              </a:rPr>
              <a:t>One digit in a loan balance from last spring</a:t>
            </a:r>
          </a:p>
        </p:txBody>
      </p:sp>
      <p:sp>
        <p:nvSpPr>
          <p:cNvPr id="4" name="Rounded Rectangle 3"/>
          <p:cNvSpPr/>
          <p:nvPr/>
        </p:nvSpPr>
        <p:spPr>
          <a:xfrm>
            <a:off x="731520" y="1554480"/>
            <a:ext cx="502920" cy="502920"/>
          </a:xfrm>
          <a:prstGeom prst="roundRect">
            <a:avLst/>
          </a:prstGeom>
          <a:solidFill>
            <a:srgbClr val="1B2A41"/>
          </a:solidFill>
          <a:ln w="15875">
            <a:solidFill>
              <a:srgbClr val="1B2A4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a:solidFill>
                  <a:srgbClr val="FAF7F0"/>
                </a:solidFill>
                <a:latin typeface="Avenir Next"/>
              </a:rPr>
              <a:t>1</a:t>
            </a:r>
          </a:p>
        </p:txBody>
      </p:sp>
      <p:sp>
        <p:nvSpPr>
          <p:cNvPr id="5" name="TextBox 4"/>
          <p:cNvSpPr txBox="1"/>
          <p:nvPr/>
        </p:nvSpPr>
        <p:spPr>
          <a:xfrm>
            <a:off x="1417320" y="1508760"/>
            <a:ext cx="3931920" cy="548640"/>
          </a:xfrm>
          <a:prstGeom prst="rect">
            <a:avLst/>
          </a:prstGeom>
          <a:noFill/>
        </p:spPr>
        <p:txBody>
          <a:bodyPr wrap="square">
            <a:spAutoFit/>
          </a:bodyPr>
          <a:lstStyle/>
          <a:p>
            <a:pPr algn="l"/>
            <a:r>
              <a:rPr sz="1500" b="1" i="0">
                <a:solidFill>
                  <a:srgbClr val="1B2A41"/>
                </a:solidFill>
                <a:latin typeface="Avenir Next"/>
              </a:rPr>
              <a:t>Alter one digit in the artifact</a:t>
            </a:r>
          </a:p>
        </p:txBody>
      </p:sp>
      <p:sp>
        <p:nvSpPr>
          <p:cNvPr id="6" name="TextBox 5"/>
          <p:cNvSpPr txBox="1"/>
          <p:nvPr/>
        </p:nvSpPr>
        <p:spPr>
          <a:xfrm>
            <a:off x="5486400" y="1508760"/>
            <a:ext cx="6400800" cy="777240"/>
          </a:xfrm>
          <a:prstGeom prst="rect">
            <a:avLst/>
          </a:prstGeom>
          <a:noFill/>
        </p:spPr>
        <p:txBody>
          <a:bodyPr wrap="square">
            <a:spAutoFit/>
          </a:bodyPr>
          <a:lstStyle/>
          <a:p>
            <a:pPr algn="l"/>
            <a:r>
              <a:rPr sz="1300" b="0" i="0">
                <a:solidFill>
                  <a:srgbClr val="6B7480"/>
                </a:solidFill>
                <a:latin typeface="Avenir Next"/>
              </a:rPr>
              <a:t>its keyed hash stops recomputing</a:t>
            </a:r>
          </a:p>
        </p:txBody>
      </p:sp>
      <p:sp>
        <p:nvSpPr>
          <p:cNvPr id="7" name="Rounded Rectangle 6"/>
          <p:cNvSpPr/>
          <p:nvPr/>
        </p:nvSpPr>
        <p:spPr>
          <a:xfrm>
            <a:off x="731520" y="2395728"/>
            <a:ext cx="502920" cy="502920"/>
          </a:xfrm>
          <a:prstGeom prst="roundRect">
            <a:avLst/>
          </a:prstGeom>
          <a:solidFill>
            <a:srgbClr val="1B2A41"/>
          </a:solidFill>
          <a:ln w="15875">
            <a:solidFill>
              <a:srgbClr val="1B2A4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a:solidFill>
                  <a:srgbClr val="FAF7F0"/>
                </a:solidFill>
                <a:latin typeface="Avenir Next"/>
              </a:rPr>
              <a:t>2</a:t>
            </a:r>
          </a:p>
        </p:txBody>
      </p:sp>
      <p:sp>
        <p:nvSpPr>
          <p:cNvPr id="8" name="TextBox 7"/>
          <p:cNvSpPr txBox="1"/>
          <p:nvPr/>
        </p:nvSpPr>
        <p:spPr>
          <a:xfrm>
            <a:off x="1417320" y="2350008"/>
            <a:ext cx="3931920" cy="548640"/>
          </a:xfrm>
          <a:prstGeom prst="rect">
            <a:avLst/>
          </a:prstGeom>
          <a:noFill/>
        </p:spPr>
        <p:txBody>
          <a:bodyPr wrap="square">
            <a:spAutoFit/>
          </a:bodyPr>
          <a:lstStyle/>
          <a:p>
            <a:pPr algn="l"/>
            <a:r>
              <a:rPr sz="1500" b="1" i="0">
                <a:solidFill>
                  <a:srgbClr val="1B2A41"/>
                </a:solidFill>
                <a:latin typeface="Avenir Next"/>
              </a:rPr>
              <a:t>Fix that hash</a:t>
            </a:r>
          </a:p>
        </p:txBody>
      </p:sp>
      <p:sp>
        <p:nvSpPr>
          <p:cNvPr id="9" name="TextBox 8"/>
          <p:cNvSpPr txBox="1"/>
          <p:nvPr/>
        </p:nvSpPr>
        <p:spPr>
          <a:xfrm>
            <a:off x="5486400" y="2350008"/>
            <a:ext cx="6400800" cy="777240"/>
          </a:xfrm>
          <a:prstGeom prst="rect">
            <a:avLst/>
          </a:prstGeom>
          <a:noFill/>
        </p:spPr>
        <p:txBody>
          <a:bodyPr wrap="square">
            <a:spAutoFit/>
          </a:bodyPr>
          <a:lstStyle/>
          <a:p>
            <a:pPr algn="l"/>
            <a:r>
              <a:rPr sz="1300" b="0" i="0">
                <a:solidFill>
                  <a:srgbClr val="6B7480"/>
                </a:solidFill>
                <a:latin typeface="Avenir Next"/>
              </a:rPr>
              <a:t>the NEXT entry's link is wrong — it pointed at the old hash</a:t>
            </a:r>
          </a:p>
        </p:txBody>
      </p:sp>
      <p:sp>
        <p:nvSpPr>
          <p:cNvPr id="10" name="Rounded Rectangle 9"/>
          <p:cNvSpPr/>
          <p:nvPr/>
        </p:nvSpPr>
        <p:spPr>
          <a:xfrm>
            <a:off x="731520" y="3236976"/>
            <a:ext cx="502920" cy="502920"/>
          </a:xfrm>
          <a:prstGeom prst="roundRect">
            <a:avLst/>
          </a:prstGeom>
          <a:solidFill>
            <a:srgbClr val="1B2A41"/>
          </a:solidFill>
          <a:ln w="15875">
            <a:solidFill>
              <a:srgbClr val="1B2A4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a:solidFill>
                  <a:srgbClr val="FAF7F0"/>
                </a:solidFill>
                <a:latin typeface="Avenir Next"/>
              </a:rPr>
              <a:t>3</a:t>
            </a:r>
          </a:p>
        </p:txBody>
      </p:sp>
      <p:sp>
        <p:nvSpPr>
          <p:cNvPr id="11" name="TextBox 10"/>
          <p:cNvSpPr txBox="1"/>
          <p:nvPr/>
        </p:nvSpPr>
        <p:spPr>
          <a:xfrm>
            <a:off x="1417320" y="3191256"/>
            <a:ext cx="3931920" cy="548640"/>
          </a:xfrm>
          <a:prstGeom prst="rect">
            <a:avLst/>
          </a:prstGeom>
          <a:noFill/>
        </p:spPr>
        <p:txBody>
          <a:bodyPr wrap="square">
            <a:spAutoFit/>
          </a:bodyPr>
          <a:lstStyle/>
          <a:p>
            <a:pPr algn="l"/>
            <a:r>
              <a:rPr sz="1500" b="1" i="0">
                <a:solidFill>
                  <a:srgbClr val="1B2A41"/>
                </a:solidFill>
                <a:latin typeface="Avenir Next"/>
              </a:rPr>
              <a:t>Fix that one</a:t>
            </a:r>
          </a:p>
        </p:txBody>
      </p:sp>
      <p:sp>
        <p:nvSpPr>
          <p:cNvPr id="12" name="TextBox 11"/>
          <p:cNvSpPr txBox="1"/>
          <p:nvPr/>
        </p:nvSpPr>
        <p:spPr>
          <a:xfrm>
            <a:off x="5486400" y="3191256"/>
            <a:ext cx="6400800" cy="777240"/>
          </a:xfrm>
          <a:prstGeom prst="rect">
            <a:avLst/>
          </a:prstGeom>
          <a:noFill/>
        </p:spPr>
        <p:txBody>
          <a:bodyPr wrap="square">
            <a:spAutoFit/>
          </a:bodyPr>
          <a:lstStyle/>
          <a:p>
            <a:pPr algn="l"/>
            <a:r>
              <a:rPr sz="1300" b="0" i="0">
                <a:solidFill>
                  <a:srgbClr val="6B7480"/>
                </a:solidFill>
                <a:latin typeface="Avenir Next"/>
              </a:rPr>
              <a:t>the next breaks. Re-derive the entire tail from the change forward</a:t>
            </a:r>
          </a:p>
        </p:txBody>
      </p:sp>
      <p:sp>
        <p:nvSpPr>
          <p:cNvPr id="13" name="Rounded Rectangle 12"/>
          <p:cNvSpPr/>
          <p:nvPr/>
        </p:nvSpPr>
        <p:spPr>
          <a:xfrm>
            <a:off x="731520" y="4078224"/>
            <a:ext cx="502920" cy="502920"/>
          </a:xfrm>
          <a:prstGeom prst="roundRect">
            <a:avLst/>
          </a:prstGeom>
          <a:solidFill>
            <a:srgbClr val="1B2A41"/>
          </a:solidFill>
          <a:ln w="15875">
            <a:solidFill>
              <a:srgbClr val="1B2A4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a:solidFill>
                  <a:srgbClr val="FAF7F0"/>
                </a:solidFill>
                <a:latin typeface="Avenir Next"/>
              </a:rPr>
              <a:t>4</a:t>
            </a:r>
          </a:p>
        </p:txBody>
      </p:sp>
      <p:sp>
        <p:nvSpPr>
          <p:cNvPr id="14" name="TextBox 13"/>
          <p:cNvSpPr txBox="1"/>
          <p:nvPr/>
        </p:nvSpPr>
        <p:spPr>
          <a:xfrm>
            <a:off x="1417320" y="4032504"/>
            <a:ext cx="3931920" cy="548640"/>
          </a:xfrm>
          <a:prstGeom prst="rect">
            <a:avLst/>
          </a:prstGeom>
          <a:noFill/>
        </p:spPr>
        <p:txBody>
          <a:bodyPr wrap="square">
            <a:spAutoFit/>
          </a:bodyPr>
          <a:lstStyle/>
          <a:p>
            <a:pPr algn="l"/>
            <a:r>
              <a:rPr sz="1500" b="1" i="0">
                <a:solidFill>
                  <a:srgbClr val="B32D2D"/>
                </a:solidFill>
                <a:latin typeface="Avenir Next"/>
              </a:rPr>
              <a:t>Now the daily root differs</a:t>
            </a:r>
          </a:p>
        </p:txBody>
      </p:sp>
      <p:sp>
        <p:nvSpPr>
          <p:cNvPr id="15" name="TextBox 14"/>
          <p:cNvSpPr txBox="1"/>
          <p:nvPr/>
        </p:nvSpPr>
        <p:spPr>
          <a:xfrm>
            <a:off x="5486400" y="4032504"/>
            <a:ext cx="6400800" cy="777240"/>
          </a:xfrm>
          <a:prstGeom prst="rect">
            <a:avLst/>
          </a:prstGeom>
          <a:noFill/>
        </p:spPr>
        <p:txBody>
          <a:bodyPr wrap="square">
            <a:spAutoFit/>
          </a:bodyPr>
          <a:lstStyle/>
          <a:p>
            <a:pPr algn="l"/>
            <a:r>
              <a:rPr sz="1300" b="0" i="0">
                <a:solidFill>
                  <a:srgbClr val="6B7480"/>
                </a:solidFill>
                <a:latin typeface="Avenir Next"/>
              </a:rPr>
              <a:t>but the original root was signed and PUBLISHED a year ago,</a:t>
            </a:r>
          </a:p>
          <a:p>
            <a:pPr algn="l"/>
            <a:r>
              <a:rPr sz="1300" b="0" i="0">
                <a:solidFill>
                  <a:srgbClr val="6B7480"/>
                </a:solidFill>
                <a:latin typeface="Avenir Next"/>
              </a:rPr>
              <a:t>somewhere your account can't reach</a:t>
            </a:r>
          </a:p>
        </p:txBody>
      </p:sp>
      <p:sp>
        <p:nvSpPr>
          <p:cNvPr id="16" name="Rounded Rectangle 15"/>
          <p:cNvSpPr/>
          <p:nvPr/>
        </p:nvSpPr>
        <p:spPr>
          <a:xfrm>
            <a:off x="731520" y="4919472"/>
            <a:ext cx="502920" cy="502920"/>
          </a:xfrm>
          <a:prstGeom prst="roundRect">
            <a:avLst/>
          </a:prstGeom>
          <a:solidFill>
            <a:srgbClr val="1B2A41"/>
          </a:solidFill>
          <a:ln w="15875">
            <a:solidFill>
              <a:srgbClr val="1B2A4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a:solidFill>
                  <a:srgbClr val="FAF7F0"/>
                </a:solidFill>
                <a:latin typeface="Avenir Next"/>
              </a:rPr>
              <a:t>5</a:t>
            </a:r>
          </a:p>
        </p:txBody>
      </p:sp>
      <p:sp>
        <p:nvSpPr>
          <p:cNvPr id="17" name="TextBox 16"/>
          <p:cNvSpPr txBox="1"/>
          <p:nvPr/>
        </p:nvSpPr>
        <p:spPr>
          <a:xfrm>
            <a:off x="1417320" y="4873752"/>
            <a:ext cx="3931920" cy="548640"/>
          </a:xfrm>
          <a:prstGeom prst="rect">
            <a:avLst/>
          </a:prstGeom>
          <a:noFill/>
        </p:spPr>
        <p:txBody>
          <a:bodyPr wrap="square">
            <a:spAutoFit/>
          </a:bodyPr>
          <a:lstStyle/>
          <a:p>
            <a:pPr algn="l"/>
            <a:r>
              <a:rPr sz="1500" b="1" i="0">
                <a:solidFill>
                  <a:srgbClr val="B32D2D"/>
                </a:solidFill>
                <a:latin typeface="Avenir Next"/>
              </a:rPr>
              <a:t>Forge the historical seal?</a:t>
            </a:r>
          </a:p>
        </p:txBody>
      </p:sp>
      <p:sp>
        <p:nvSpPr>
          <p:cNvPr id="18" name="TextBox 17"/>
          <p:cNvSpPr txBox="1"/>
          <p:nvPr/>
        </p:nvSpPr>
        <p:spPr>
          <a:xfrm>
            <a:off x="5486400" y="4873752"/>
            <a:ext cx="6400800" cy="777240"/>
          </a:xfrm>
          <a:prstGeom prst="rect">
            <a:avLst/>
          </a:prstGeom>
          <a:noFill/>
        </p:spPr>
        <p:txBody>
          <a:bodyPr wrap="square">
            <a:spAutoFit/>
          </a:bodyPr>
          <a:lstStyle/>
          <a:p>
            <a:pPr algn="l"/>
            <a:r>
              <a:rPr sz="1300" b="0" i="0">
                <a:solidFill>
                  <a:srgbClr val="6B7480"/>
                </a:solidFill>
                <a:latin typeface="Avenir Next"/>
              </a:rPr>
              <a:t>you need a signing key the published manifest vouches for ON THAT DATE</a:t>
            </a:r>
          </a:p>
        </p:txBody>
      </p:sp>
      <p:sp>
        <p:nvSpPr>
          <p:cNvPr id="19" name="Rounded Rectangle 18"/>
          <p:cNvSpPr/>
          <p:nvPr/>
        </p:nvSpPr>
        <p:spPr>
          <a:xfrm>
            <a:off x="731520" y="5760720"/>
            <a:ext cx="502920" cy="502920"/>
          </a:xfrm>
          <a:prstGeom prst="roundRect">
            <a:avLst/>
          </a:prstGeom>
          <a:solidFill>
            <a:srgbClr val="1B2A41"/>
          </a:solidFill>
          <a:ln w="15875">
            <a:solidFill>
              <a:srgbClr val="1B2A4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a:solidFill>
                  <a:srgbClr val="FAF7F0"/>
                </a:solidFill>
                <a:latin typeface="Avenir Next"/>
              </a:rPr>
              <a:t>6</a:t>
            </a:r>
          </a:p>
        </p:txBody>
      </p:sp>
      <p:sp>
        <p:nvSpPr>
          <p:cNvPr id="20" name="TextBox 19"/>
          <p:cNvSpPr txBox="1"/>
          <p:nvPr/>
        </p:nvSpPr>
        <p:spPr>
          <a:xfrm>
            <a:off x="1417320" y="5715000"/>
            <a:ext cx="3931920" cy="548640"/>
          </a:xfrm>
          <a:prstGeom prst="rect">
            <a:avLst/>
          </a:prstGeom>
          <a:noFill/>
        </p:spPr>
        <p:txBody>
          <a:bodyPr wrap="square">
            <a:spAutoFit/>
          </a:bodyPr>
          <a:lstStyle/>
          <a:p>
            <a:pPr algn="l"/>
            <a:r>
              <a:rPr sz="1500" b="1" i="0">
                <a:solidFill>
                  <a:srgbClr val="B32D2D"/>
                </a:solidFill>
                <a:latin typeface="Avenir Next"/>
              </a:rPr>
              <a:t>Forge the manifest signature?</a:t>
            </a:r>
          </a:p>
        </p:txBody>
      </p:sp>
      <p:sp>
        <p:nvSpPr>
          <p:cNvPr id="21" name="TextBox 20"/>
          <p:cNvSpPr txBox="1"/>
          <p:nvPr/>
        </p:nvSpPr>
        <p:spPr>
          <a:xfrm>
            <a:off x="5486400" y="5715000"/>
            <a:ext cx="6400800" cy="777240"/>
          </a:xfrm>
          <a:prstGeom prst="rect">
            <a:avLst/>
          </a:prstGeom>
          <a:noFill/>
        </p:spPr>
        <p:txBody>
          <a:bodyPr wrap="square">
            <a:spAutoFit/>
          </a:bodyPr>
          <a:lstStyle/>
          <a:p>
            <a:pPr algn="l"/>
            <a:r>
              <a:rPr sz="1300" b="0" i="0">
                <a:solidFill>
                  <a:srgbClr val="6B7480"/>
                </a:solidFill>
                <a:latin typeface="Avenir Next"/>
              </a:rPr>
              <a:t>its root is held by the one role that can't request seals and can't extract keys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1B2A41"/>
        </a:solidFill>
        <a:effectLst/>
      </p:bgPr>
    </p:bg>
    <p:spTree>
      <p:nvGrpSpPr>
        <p:cNvPr id="1" name=""/>
        <p:cNvGrpSpPr/>
        <p:nvPr/>
      </p:nvGrpSpPr>
      <p:grpSpPr/>
      <p:sp>
        <p:nvSpPr>
          <p:cNvPr id="2" name="TextBox 1"/>
          <p:cNvSpPr txBox="1"/>
          <p:nvPr/>
        </p:nvSpPr>
        <p:spPr>
          <a:xfrm>
            <a:off x="914400" y="1005840"/>
            <a:ext cx="10332720" cy="4480560"/>
          </a:xfrm>
          <a:prstGeom prst="rect">
            <a:avLst/>
          </a:prstGeom>
          <a:noFill/>
        </p:spPr>
        <p:txBody>
          <a:bodyPr wrap="square">
            <a:spAutoFit/>
          </a:bodyPr>
          <a:lstStyle/>
          <a:p>
            <a:pPr algn="l"/>
            <a:r>
              <a:rPr sz="1900" b="0" i="1">
                <a:solidFill>
                  <a:srgbClr val="FAF7F0"/>
                </a:solidFill>
                <a:latin typeface="Avenir Next"/>
              </a:rPr>
              <a:t>“Alter one old artifact — one digit in a loan balance from last spring — and that entry's keyed hash stops recomputing. Fix the hash, and the next entry's link is wrong, because it pointed at the old one. Fix that, the next one breaks. You'd have to re-derive the whole tail from the point of the change. Then the daily root over that day comes out different — and the original root was signed and published a year ago, in a place your account can't reach. So you'd have to forge the historical seal too. And to make the forged seal check out, you'd need a signing key the published manifest vouches for on that date — which means forging the manifest signature, under a root held by the one role that can't request seals and can't extract keys.”</a:t>
            </a:r>
          </a:p>
        </p:txBody>
      </p:sp>
      <p:sp>
        <p:nvSpPr>
          <p:cNvPr id="3" name="TextBox 2"/>
          <p:cNvSpPr txBox="1"/>
          <p:nvPr/>
        </p:nvSpPr>
        <p:spPr>
          <a:xfrm>
            <a:off x="914400" y="5577840"/>
            <a:ext cx="10332720" cy="548640"/>
          </a:xfrm>
          <a:prstGeom prst="rect">
            <a:avLst/>
          </a:prstGeom>
          <a:noFill/>
        </p:spPr>
        <p:txBody>
          <a:bodyPr wrap="square">
            <a:spAutoFit/>
          </a:bodyPr>
          <a:lstStyle/>
          <a:p>
            <a:pPr algn="l"/>
            <a:r>
              <a:rPr sz="1400" b="0" i="0">
                <a:solidFill>
                  <a:srgbClr val="9EC9C8"/>
                </a:solidFill>
                <a:latin typeface="Avenir Next"/>
              </a:rPr>
              <a:t>— Luis, seal &amp; HSM trace  ·  Chapter 24, Success Bank</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AF7F0"/>
        </a:solidFill>
        <a:effectLst/>
      </p:bgPr>
    </p:bg>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spAutoFit/>
          </a:bodyPr>
          <a:lstStyle/>
          <a:p>
            <a:pPr algn="l"/>
            <a:r>
              <a:rPr sz="3000" b="1" i="0">
                <a:solidFill>
                  <a:srgbClr val="1B2A41"/>
                </a:solidFill>
                <a:latin typeface="Avenir Next"/>
              </a:rPr>
              <a:t>Why the attack fails — three simultaneous compromises</a:t>
            </a:r>
          </a:p>
        </p:txBody>
      </p:sp>
      <p:sp>
        <p:nvSpPr>
          <p:cNvPr id="3" name="TextBox 2"/>
          <p:cNvSpPr txBox="1"/>
          <p:nvPr/>
        </p:nvSpPr>
        <p:spPr>
          <a:xfrm>
            <a:off x="548640" y="960120"/>
            <a:ext cx="11064240" cy="457200"/>
          </a:xfrm>
          <a:prstGeom prst="rect">
            <a:avLst/>
          </a:prstGeom>
          <a:noFill/>
        </p:spPr>
        <p:txBody>
          <a:bodyPr wrap="square">
            <a:spAutoFit/>
          </a:bodyPr>
          <a:lstStyle/>
          <a:p>
            <a:pPr algn="l"/>
            <a:r>
              <a:rPr sz="1500" b="0" i="1">
                <a:solidFill>
                  <a:srgbClr val="6B7480"/>
                </a:solidFill>
                <a:latin typeface="Avenir Next"/>
              </a:rPr>
              <a:t>Any one layer surviving is enough to expose the forgery</a:t>
            </a:r>
          </a:p>
        </p:txBody>
      </p:sp>
      <p:sp>
        <p:nvSpPr>
          <p:cNvPr id="4" name="Rounded Rectangle 3"/>
          <p:cNvSpPr/>
          <p:nvPr/>
        </p:nvSpPr>
        <p:spPr>
          <a:xfrm>
            <a:off x="822960" y="2103120"/>
            <a:ext cx="3017520" cy="731520"/>
          </a:xfrm>
          <a:prstGeom prst="roundRect">
            <a:avLst/>
          </a:prstGeom>
          <a:solidFill>
            <a:srgbClr val="1B2A41"/>
          </a:solidFill>
          <a:ln w="15875">
            <a:solidFill>
              <a:srgbClr val="1B2A4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1">
                <a:solidFill>
                  <a:srgbClr val="FAF7F0"/>
                </a:solidFill>
                <a:latin typeface="Avenir Next"/>
              </a:rPr>
              <a:t>Per-event MAC</a:t>
            </a:r>
          </a:p>
        </p:txBody>
      </p:sp>
      <p:sp>
        <p:nvSpPr>
          <p:cNvPr id="5" name="Rounded Rectangle 4"/>
          <p:cNvSpPr/>
          <p:nvPr/>
        </p:nvSpPr>
        <p:spPr>
          <a:xfrm>
            <a:off x="822960" y="2926080"/>
            <a:ext cx="3017520" cy="1554480"/>
          </a:xfrm>
          <a:prstGeom prst="roundRect">
            <a:avLst/>
          </a:prstGeom>
          <a:solidFill>
            <a:srgbClr val="E7EEF2"/>
          </a:solidFill>
          <a:ln w="15875">
            <a:solidFill>
              <a:srgbClr val="1B2A4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0">
                <a:solidFill>
                  <a:srgbClr val="1B2A41"/>
                </a:solidFill>
                <a:latin typeface="Avenir Next"/>
              </a:rPr>
              <a:t>re-forging every keyed hash</a:t>
            </a:r>
          </a:p>
          <a:p>
            <a:pPr algn="ctr"/>
            <a:r>
              <a:rPr sz="1300" b="0">
                <a:solidFill>
                  <a:srgbClr val="1B2A41"/>
                </a:solidFill>
                <a:latin typeface="Avenir Next"/>
              </a:rPr>
              <a:t>in the altered tail</a:t>
            </a:r>
          </a:p>
          <a:p>
            <a:pPr algn="ctr"/>
            <a:r>
              <a:rPr sz="1300" b="0">
                <a:solidFill>
                  <a:srgbClr val="1B2A41"/>
                </a:solidFill>
                <a:latin typeface="Avenir Next"/>
              </a:rPr>
              <a:t>requires the event keys</a:t>
            </a:r>
          </a:p>
        </p:txBody>
      </p:sp>
      <p:sp>
        <p:nvSpPr>
          <p:cNvPr id="6" name="Rounded Rectangle 5"/>
          <p:cNvSpPr/>
          <p:nvPr/>
        </p:nvSpPr>
        <p:spPr>
          <a:xfrm>
            <a:off x="4617720" y="2103120"/>
            <a:ext cx="3017520" cy="731520"/>
          </a:xfrm>
          <a:prstGeom prst="roundRect">
            <a:avLst/>
          </a:prstGeom>
          <a:solidFill>
            <a:srgbClr val="1B2A41"/>
          </a:solidFill>
          <a:ln w="15875">
            <a:solidFill>
              <a:srgbClr val="1B2A4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1">
                <a:solidFill>
                  <a:srgbClr val="FAF7F0"/>
                </a:solidFill>
                <a:latin typeface="Avenir Next"/>
              </a:rPr>
              <a:t>Published daily seal</a:t>
            </a:r>
          </a:p>
        </p:txBody>
      </p:sp>
      <p:sp>
        <p:nvSpPr>
          <p:cNvPr id="7" name="Rounded Rectangle 6"/>
          <p:cNvSpPr/>
          <p:nvPr/>
        </p:nvSpPr>
        <p:spPr>
          <a:xfrm>
            <a:off x="4617720" y="2926080"/>
            <a:ext cx="3017520" cy="1554480"/>
          </a:xfrm>
          <a:prstGeom prst="roundRect">
            <a:avLst/>
          </a:prstGeom>
          <a:solidFill>
            <a:srgbClr val="E7EEF2"/>
          </a:solidFill>
          <a:ln w="15875">
            <a:solidFill>
              <a:srgbClr val="1B2A4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0">
                <a:solidFill>
                  <a:srgbClr val="1B2A41"/>
                </a:solidFill>
                <a:latin typeface="Avenir Next"/>
              </a:rPr>
              <a:t>the historical root is signed</a:t>
            </a:r>
          </a:p>
          <a:p>
            <a:pPr algn="ctr"/>
            <a:r>
              <a:rPr sz="1300" b="0">
                <a:solidFill>
                  <a:srgbClr val="1B2A41"/>
                </a:solidFill>
                <a:latin typeface="Avenir Next"/>
              </a:rPr>
              <a:t>and held OUTSIDE the</a:t>
            </a:r>
          </a:p>
          <a:p>
            <a:pPr algn="ctr"/>
            <a:r>
              <a:rPr sz="1300" b="0">
                <a:solidFill>
                  <a:srgbClr val="1B2A41"/>
                </a:solidFill>
                <a:latin typeface="Avenir Next"/>
              </a:rPr>
              <a:t>institution's reach</a:t>
            </a:r>
          </a:p>
        </p:txBody>
      </p:sp>
      <p:sp>
        <p:nvSpPr>
          <p:cNvPr id="8" name="Rounded Rectangle 7"/>
          <p:cNvSpPr/>
          <p:nvPr/>
        </p:nvSpPr>
        <p:spPr>
          <a:xfrm>
            <a:off x="8412480" y="2103120"/>
            <a:ext cx="3017520" cy="731520"/>
          </a:xfrm>
          <a:prstGeom prst="roundRect">
            <a:avLst/>
          </a:prstGeom>
          <a:solidFill>
            <a:srgbClr val="1B2A41"/>
          </a:solidFill>
          <a:ln w="15875">
            <a:solidFill>
              <a:srgbClr val="1B2A4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1">
                <a:solidFill>
                  <a:srgbClr val="FAF7F0"/>
                </a:solidFill>
                <a:latin typeface="Avenir Next"/>
              </a:rPr>
              <a:t>Manifest signature</a:t>
            </a:r>
          </a:p>
        </p:txBody>
      </p:sp>
      <p:sp>
        <p:nvSpPr>
          <p:cNvPr id="9" name="Rounded Rectangle 8"/>
          <p:cNvSpPr/>
          <p:nvPr/>
        </p:nvSpPr>
        <p:spPr>
          <a:xfrm>
            <a:off x="8412480" y="2926080"/>
            <a:ext cx="3017520" cy="1554480"/>
          </a:xfrm>
          <a:prstGeom prst="roundRect">
            <a:avLst/>
          </a:prstGeom>
          <a:solidFill>
            <a:srgbClr val="E7EEF2"/>
          </a:solidFill>
          <a:ln w="15875">
            <a:solidFill>
              <a:srgbClr val="1B2A4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0">
                <a:solidFill>
                  <a:srgbClr val="1B2A41"/>
                </a:solidFill>
                <a:latin typeface="Avenir Next"/>
              </a:rPr>
              <a:t>key custody separated by role</a:t>
            </a:r>
          </a:p>
          <a:p>
            <a:pPr algn="ctr"/>
            <a:r>
              <a:rPr sz="1300" b="0">
                <a:solidFill>
                  <a:srgbClr val="1B2A41"/>
                </a:solidFill>
                <a:latin typeface="Avenir Next"/>
              </a:rPr>
              <a:t>and hardware — the signer</a:t>
            </a:r>
          </a:p>
          <a:p>
            <a:pPr algn="ctr"/>
            <a:r>
              <a:rPr sz="1300" b="0">
                <a:solidFill>
                  <a:srgbClr val="1B2A41"/>
                </a:solidFill>
                <a:latin typeface="Avenir Next"/>
              </a:rPr>
              <a:t>can't be asked to cooperate</a:t>
            </a:r>
          </a:p>
        </p:txBody>
      </p:sp>
      <p:sp>
        <p:nvSpPr>
          <p:cNvPr id="10" name="TextBox 9"/>
          <p:cNvSpPr txBox="1"/>
          <p:nvPr/>
        </p:nvSpPr>
        <p:spPr>
          <a:xfrm>
            <a:off x="822960" y="5029200"/>
            <a:ext cx="10881360" cy="1371600"/>
          </a:xfrm>
          <a:prstGeom prst="rect">
            <a:avLst/>
          </a:prstGeom>
          <a:noFill/>
        </p:spPr>
        <p:txBody>
          <a:bodyPr wrap="square">
            <a:spAutoFit/>
          </a:bodyPr>
          <a:lstStyle/>
          <a:p>
            <a:pPr algn="l"/>
            <a:r>
              <a:rPr sz="1600" b="1" i="0">
                <a:solidFill>
                  <a:srgbClr val="0E7C7B"/>
                </a:solidFill>
                <a:latin typeface="Avenir Next"/>
              </a:rPr>
              <a:t>Trust is not asserted — it is re-run. An examiner re-executes verification with independent tooling</a:t>
            </a:r>
          </a:p>
          <a:p>
            <a:pPr algn="l"/>
            <a:r>
              <a:rPr sz="1600" b="1" i="0">
                <a:solidFill>
                  <a:srgbClr val="0E7C7B"/>
                </a:solidFill>
                <a:latin typeface="Avenir Next"/>
              </a:rPr>
              <a:t>and either reproduces the verdict or exposes the break at the exact byte offset.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AF7F0"/>
        </a:solidFill>
        <a:effectLst/>
      </p:bgPr>
    </p:bg>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spAutoFit/>
          </a:bodyPr>
          <a:lstStyle/>
          <a:p>
            <a:pPr algn="l"/>
            <a:r>
              <a:rPr sz="3000" b="1" i="0">
                <a:solidFill>
                  <a:srgbClr val="1B2A41"/>
                </a:solidFill>
                <a:latin typeface="Avenir Next"/>
              </a:rPr>
              <a:t>Reference</a:t>
            </a:r>
          </a:p>
        </p:txBody>
      </p:sp>
      <p:sp>
        <p:nvSpPr>
          <p:cNvPr id="3" name="TextBox 2"/>
          <p:cNvSpPr txBox="1"/>
          <p:nvPr/>
        </p:nvSpPr>
        <p:spPr>
          <a:xfrm>
            <a:off x="548640" y="960120"/>
            <a:ext cx="11064240" cy="457200"/>
          </a:xfrm>
          <a:prstGeom prst="rect">
            <a:avLst/>
          </a:prstGeom>
          <a:noFill/>
        </p:spPr>
        <p:txBody>
          <a:bodyPr wrap="square">
            <a:spAutoFit/>
          </a:bodyPr>
          <a:lstStyle/>
          <a:p>
            <a:pPr algn="l"/>
            <a:r>
              <a:rPr sz="1500" b="0" i="1">
                <a:solidFill>
                  <a:srgbClr val="6B7480"/>
                </a:solidFill>
                <a:latin typeface="Avenir Next"/>
              </a:rPr>
              <a:t>Where each piece lives</a:t>
            </a:r>
          </a:p>
        </p:txBody>
      </p:sp>
      <p:sp>
        <p:nvSpPr>
          <p:cNvPr id="4" name="TextBox 3"/>
          <p:cNvSpPr txBox="1"/>
          <p:nvPr/>
        </p:nvSpPr>
        <p:spPr>
          <a:xfrm>
            <a:off x="822960" y="1737360"/>
            <a:ext cx="10789920" cy="4206240"/>
          </a:xfrm>
          <a:prstGeom prst="rect">
            <a:avLst/>
          </a:prstGeom>
          <a:noFill/>
        </p:spPr>
        <p:txBody>
          <a:bodyPr wrap="square">
            <a:spAutoFit/>
          </a:bodyPr>
          <a:lstStyle/>
          <a:p>
            <a:pPr algn="l"/>
            <a:r>
              <a:rPr sz="1500" b="0" i="0">
                <a:solidFill>
                  <a:srgbClr val="1B2A41"/>
                </a:solidFill>
                <a:latin typeface="Avenir Next"/>
              </a:rPr>
              <a:t>Spec (public, ffiec-public / chain-of-custody 0.3.0):</a:t>
            </a:r>
          </a:p>
          <a:p>
            <a:pPr algn="l"/>
            <a:r>
              <a:rPr sz="1500" b="0" i="0">
                <a:solidFill>
                  <a:srgbClr val="1B2A41"/>
                </a:solidFill>
                <a:latin typeface="Avenir Next"/>
              </a:rPr>
              <a:t>    §4 — the four primitives: per-event MAC, Merkle seal, HSM signature, publication</a:t>
            </a:r>
          </a:p>
          <a:p>
            <a:pPr algn="l"/>
            <a:r>
              <a:rPr sz="1500" b="0" i="0">
                <a:solidFill>
                  <a:srgbClr val="1B2A41"/>
                </a:solidFill>
                <a:latin typeface="Avenir Next"/>
              </a:rPr>
              <a:t>    §7 — the verifier procedure: re-run the walk, reproduce the verdict byte-equal</a:t>
            </a:r>
          </a:p>
          <a:p>
            <a:pPr algn="l"/>
            <a:r>
              <a:rPr sz="1500" b="0" i="0">
                <a:solidFill>
                  <a:srgbClr val="1B2A41"/>
                </a:solidFill>
                <a:latin typeface="Avenir Next"/>
              </a:rPr>
              <a:t>    §10.76 / §10.1 / §10.5 — key-registry manifest, fingerprint reconciliation, separation of duties</a:t>
            </a:r>
          </a:p>
          <a:p>
            <a:pPr algn="l"/>
            <a:r>
              <a:rPr sz="1500" b="0" i="0">
                <a:solidFill>
                  <a:srgbClr val="1B2A41"/>
                </a:solidFill>
                <a:latin typeface="Avenir Next"/>
              </a:rPr>
              <a:t>    §10.84 — ordering proofs (a later event binds the hash of an earlier, already-sealed event)</a:t>
            </a:r>
          </a:p>
          <a:p>
            <a:pPr algn="l"/>
            <a:r>
              <a:rPr sz="1500" b="0" i="0">
                <a:solidFill>
                  <a:srgbClr val="1B2A41"/>
                </a:solidFill>
                <a:latin typeface="Avenir Next"/>
              </a:rPr>
              <a:t>    §10.9 — key-registry retention: keys must outlive the longest-lived artifact they verify</a:t>
            </a:r>
          </a:p>
          <a:p>
            <a:pPr algn="l"/>
          </a:p>
          <a:p>
            <a:pPr algn="l"/>
            <a:r>
              <a:rPr sz="1500" b="0" i="0">
                <a:solidFill>
                  <a:srgbClr val="1B2A41"/>
                </a:solidFill>
                <a:latin typeface="Avenir Next"/>
              </a:rPr>
              <a:t>Reference verifier: ffiec repo — ffiec-verify (profiles: ffiec, tx-dob)</a:t>
            </a:r>
          </a:p>
          <a:p>
            <a:pPr algn="l"/>
          </a:p>
          <a:p>
            <a:pPr algn="l"/>
            <a:r>
              <a:rPr sz="1500" b="0" i="0">
                <a:solidFill>
                  <a:srgbClr val="1B2A41"/>
                </a:solidFill>
                <a:latin typeface="Avenir Next"/>
              </a:rPr>
              <a:t>Narrative dramatization: Herald.Documentation prose/compliance/novel/24-success-bank.md</a:t>
            </a:r>
          </a:p>
          <a:p>
            <a:pPr algn="l"/>
            <a:r>
              <a:rPr sz="1500" b="0" i="0">
                <a:solidFill>
                  <a:srgbClr val="1B2A41"/>
                </a:solidFill>
                <a:latin typeface="Avenir Next"/>
              </a:rPr>
              <a:t>    (Luis's tamper-cascade walk; the examiner's independent re-run)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