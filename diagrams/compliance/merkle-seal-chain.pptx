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822960" y="2103120"/>
            <a:ext cx="10515600" cy="1097280"/>
          </a:xfrm>
          <a:prstGeom prst="rect">
            <a:avLst/>
          </a:prstGeom>
          <a:noFill/>
        </p:spPr>
        <p:txBody>
          <a:bodyPr wrap="square">
            <a:spAutoFit/>
          </a:bodyPr>
          <a:lstStyle/>
          <a:p>
            <a:pPr algn="l"/>
            <a:r>
              <a:rPr sz="4400" b="1" i="0">
                <a:solidFill>
                  <a:srgbClr val="FAF7F0"/>
                </a:solidFill>
                <a:latin typeface="Avenir Next"/>
              </a:rPr>
              <a:t>The Merkle Seal Chain</a:t>
            </a:r>
          </a:p>
        </p:txBody>
      </p:sp>
      <p:sp>
        <p:nvSpPr>
          <p:cNvPr id="3" name="TextBox 2"/>
          <p:cNvSpPr txBox="1"/>
          <p:nvPr/>
        </p:nvSpPr>
        <p:spPr>
          <a:xfrm>
            <a:off x="822960" y="3108960"/>
            <a:ext cx="10515600" cy="822960"/>
          </a:xfrm>
          <a:prstGeom prst="rect">
            <a:avLst/>
          </a:prstGeom>
          <a:noFill/>
        </p:spPr>
        <p:txBody>
          <a:bodyPr wrap="square">
            <a:spAutoFit/>
          </a:bodyPr>
          <a:lstStyle/>
          <a:p>
            <a:pPr algn="l"/>
            <a:r>
              <a:rPr sz="1900" b="0" i="0">
                <a:solidFill>
                  <a:srgbClr val="9EC9C8"/>
                </a:solidFill>
                <a:latin typeface="Avenir Next"/>
              </a:rPr>
              <a:t>How hashes, links, daily seals, and a signed key registry make evidence tamper-evident —</a:t>
            </a:r>
          </a:p>
          <a:p>
            <a:pPr algn="l"/>
            <a:r>
              <a:rPr sz="1900" b="0" i="0">
                <a:solidFill>
                  <a:srgbClr val="9EC9C8"/>
                </a:solidFill>
                <a:latin typeface="Avenir Next"/>
              </a:rPr>
              <a:t>with the data structures shown at every layer</a:t>
            </a:r>
          </a:p>
        </p:txBody>
      </p:sp>
      <p:sp>
        <p:nvSpPr>
          <p:cNvPr id="4" name="TextBox 3"/>
          <p:cNvSpPr txBox="1"/>
          <p:nvPr/>
        </p:nvSpPr>
        <p:spPr>
          <a:xfrm>
            <a:off x="822960" y="5760720"/>
            <a:ext cx="10515600" cy="548640"/>
          </a:xfrm>
          <a:prstGeom prst="rect">
            <a:avLst/>
          </a:prstGeom>
          <a:noFill/>
        </p:spPr>
        <p:txBody>
          <a:bodyPr wrap="square">
            <a:spAutoFit/>
          </a:bodyPr>
          <a:lstStyle/>
          <a:p>
            <a:pPr algn="l"/>
            <a:r>
              <a:rPr sz="1200" b="0" i="0">
                <a:solidFill>
                  <a:srgbClr val="6B7480"/>
                </a:solidFill>
                <a:latin typeface="Avenir Next"/>
              </a:rPr>
              <a:t>Herald.Documentation — diagrams/compliance — companion to chain-walk-reconstruction.pptx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Building block 1 — the hash</a:t>
            </a:r>
          </a:p>
        </p:txBody>
      </p:sp>
      <p:sp>
        <p:nvSpPr>
          <p:cNvPr id="3" name="TextBox 2"/>
          <p:cNvSpPr txBox="1"/>
          <p:nvPr/>
        </p:nvSpPr>
        <p:spPr>
          <a:xfrm>
            <a:off x="548640" y="868680"/>
            <a:ext cx="11064240" cy="457200"/>
          </a:xfrm>
          <a:prstGeom prst="rect">
            <a:avLst/>
          </a:prstGeom>
          <a:noFill/>
        </p:spPr>
        <p:txBody>
          <a:bodyPr wrap="square">
            <a:spAutoFit/>
          </a:bodyPr>
          <a:lstStyle/>
          <a:p>
            <a:pPr algn="l"/>
            <a:r>
              <a:rPr sz="1400" b="0" i="1">
                <a:solidFill>
                  <a:srgbClr val="6B7480"/>
                </a:solidFill>
                <a:latin typeface="Avenir Next"/>
              </a:rPr>
              <a:t>A fingerprint of bytes: change anything, the fingerprint changes</a:t>
            </a:r>
          </a:p>
        </p:txBody>
      </p:sp>
      <p:sp>
        <p:nvSpPr>
          <p:cNvPr id="4" name="Rounded Rectangle 3"/>
          <p:cNvSpPr/>
          <p:nvPr/>
        </p:nvSpPr>
        <p:spPr>
          <a:xfrm>
            <a:off x="640080" y="1645920"/>
            <a:ext cx="4023360" cy="1335024"/>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640080" y="1645920"/>
            <a:ext cx="402336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ARTIFACT  LN-2025-088231</a:t>
            </a:r>
          </a:p>
        </p:txBody>
      </p:sp>
      <p:sp>
        <p:nvSpPr>
          <p:cNvPr id="6" name="TextBox 5"/>
          <p:cNvSpPr txBox="1"/>
          <p:nvPr/>
        </p:nvSpPr>
        <p:spPr>
          <a:xfrm>
            <a:off x="749808" y="1993392"/>
            <a:ext cx="3840480" cy="237744"/>
          </a:xfrm>
          <a:prstGeom prst="rect">
            <a:avLst/>
          </a:prstGeom>
          <a:noFill/>
        </p:spPr>
        <p:txBody>
          <a:bodyPr wrap="square">
            <a:spAutoFit/>
          </a:bodyPr>
          <a:lstStyle/>
          <a:p>
            <a:pPr algn="l"/>
            <a:r>
              <a:rPr sz="1050" b="0" i="0">
                <a:solidFill>
                  <a:srgbClr val="1B2A41"/>
                </a:solidFill>
                <a:latin typeface="Menlo"/>
              </a:rPr>
              <a:t>doc_id   : LN-2025-088231</a:t>
            </a:r>
          </a:p>
        </p:txBody>
      </p:sp>
      <p:sp>
        <p:nvSpPr>
          <p:cNvPr id="7" name="TextBox 6"/>
          <p:cNvSpPr txBox="1"/>
          <p:nvPr/>
        </p:nvSpPr>
        <p:spPr>
          <a:xfrm>
            <a:off x="749808" y="2231136"/>
            <a:ext cx="3840480" cy="237744"/>
          </a:xfrm>
          <a:prstGeom prst="rect">
            <a:avLst/>
          </a:prstGeom>
          <a:noFill/>
        </p:spPr>
        <p:txBody>
          <a:bodyPr wrap="square">
            <a:spAutoFit/>
          </a:bodyPr>
          <a:lstStyle/>
          <a:p>
            <a:pPr algn="l"/>
            <a:r>
              <a:rPr sz="1050" b="0" i="0">
                <a:solidFill>
                  <a:srgbClr val="1B2A41"/>
                </a:solidFill>
                <a:latin typeface="Menlo"/>
              </a:rPr>
              <a:t>type     : loan_file</a:t>
            </a:r>
          </a:p>
        </p:txBody>
      </p:sp>
      <p:sp>
        <p:nvSpPr>
          <p:cNvPr id="8" name="TextBox 7"/>
          <p:cNvSpPr txBox="1"/>
          <p:nvPr/>
        </p:nvSpPr>
        <p:spPr>
          <a:xfrm>
            <a:off x="749808" y="2468880"/>
            <a:ext cx="3840480" cy="237744"/>
          </a:xfrm>
          <a:prstGeom prst="rect">
            <a:avLst/>
          </a:prstGeom>
          <a:noFill/>
        </p:spPr>
        <p:txBody>
          <a:bodyPr wrap="square">
            <a:spAutoFit/>
          </a:bodyPr>
          <a:lstStyle/>
          <a:p>
            <a:pPr algn="l"/>
            <a:r>
              <a:rPr sz="1050" b="0" i="0">
                <a:solidFill>
                  <a:srgbClr val="1B2A41"/>
                </a:solidFill>
                <a:latin typeface="Menlo"/>
              </a:rPr>
              <a:t>balance  : $214,309.00</a:t>
            </a:r>
          </a:p>
        </p:txBody>
      </p:sp>
      <p:sp>
        <p:nvSpPr>
          <p:cNvPr id="9" name="TextBox 8"/>
          <p:cNvSpPr txBox="1"/>
          <p:nvPr/>
        </p:nvSpPr>
        <p:spPr>
          <a:xfrm>
            <a:off x="749808" y="2706624"/>
            <a:ext cx="3840480" cy="237744"/>
          </a:xfrm>
          <a:prstGeom prst="rect">
            <a:avLst/>
          </a:prstGeom>
          <a:noFill/>
        </p:spPr>
        <p:txBody>
          <a:bodyPr wrap="square">
            <a:spAutoFit/>
          </a:bodyPr>
          <a:lstStyle/>
          <a:p>
            <a:pPr algn="l"/>
            <a:r>
              <a:rPr sz="1050" b="0" i="0">
                <a:solidFill>
                  <a:srgbClr val="1B2A41"/>
                </a:solidFill>
                <a:latin typeface="Menlo"/>
              </a:rPr>
              <a:t>bytes    : 1,482,003</a:t>
            </a:r>
          </a:p>
        </p:txBody>
      </p:sp>
      <p:sp>
        <p:nvSpPr>
          <p:cNvPr id="10" name="TextBox 9"/>
          <p:cNvSpPr txBox="1"/>
          <p:nvPr/>
        </p:nvSpPr>
        <p:spPr>
          <a:xfrm>
            <a:off x="4800600" y="1965960"/>
            <a:ext cx="1097280" cy="365760"/>
          </a:xfrm>
          <a:prstGeom prst="rect">
            <a:avLst/>
          </a:prstGeom>
          <a:noFill/>
        </p:spPr>
        <p:txBody>
          <a:bodyPr wrap="square">
            <a:spAutoFit/>
          </a:bodyPr>
          <a:lstStyle/>
          <a:p>
            <a:pPr algn="ctr"/>
            <a:r>
              <a:rPr sz="1200" b="1" i="0">
                <a:solidFill>
                  <a:srgbClr val="0E7C7B"/>
                </a:solidFill>
                <a:latin typeface="Avenir Next"/>
              </a:rPr>
              <a:t>sha256</a:t>
            </a:r>
          </a:p>
        </p:txBody>
      </p:sp>
      <p:cxnSp>
        <p:nvCxnSpPr>
          <p:cNvPr id="11" name="Connector 10"/>
          <p:cNvCxnSpPr/>
          <p:nvPr/>
        </p:nvCxnSpPr>
        <p:spPr>
          <a:xfrm>
            <a:off x="4709160" y="2377440"/>
            <a:ext cx="1097280" cy="0"/>
          </a:xfrm>
          <a:prstGeom prst="line">
            <a:avLst/>
          </a:prstGeom>
          <a:ln w="25400">
            <a:solidFill>
              <a:srgbClr val="0E7C7B"/>
            </a:solidFill>
            <a:tailEnd type="arrow"/>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43600" y="1965960"/>
            <a:ext cx="3749039" cy="621792"/>
          </a:xfrm>
          <a:prstGeom prst="roundRect">
            <a:avLst/>
          </a:prstGeom>
          <a:solidFill>
            <a:srgbClr val="E7EEF2"/>
          </a:solidFill>
          <a:ln w="15875">
            <a:solidFill>
              <a:srgbClr val="0E7C7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943600" y="1965960"/>
            <a:ext cx="3749039" cy="310896"/>
          </a:xfrm>
          <a:prstGeom prst="roundRect">
            <a:avLst/>
          </a:prstGeom>
          <a:solidFill>
            <a:srgbClr val="1B2A41"/>
          </a:solidFill>
          <a:ln w="15875">
            <a:solidFill>
              <a:srgbClr val="0E7C7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DIGEST</a:t>
            </a:r>
          </a:p>
        </p:txBody>
      </p:sp>
      <p:sp>
        <p:nvSpPr>
          <p:cNvPr id="14" name="TextBox 13"/>
          <p:cNvSpPr txBox="1"/>
          <p:nvPr/>
        </p:nvSpPr>
        <p:spPr>
          <a:xfrm>
            <a:off x="6053328" y="2313432"/>
            <a:ext cx="3566159" cy="237744"/>
          </a:xfrm>
          <a:prstGeom prst="rect">
            <a:avLst/>
          </a:prstGeom>
          <a:noFill/>
        </p:spPr>
        <p:txBody>
          <a:bodyPr wrap="square">
            <a:spAutoFit/>
          </a:bodyPr>
          <a:lstStyle/>
          <a:p>
            <a:pPr algn="l"/>
            <a:r>
              <a:rPr sz="1200" b="0" i="0">
                <a:solidFill>
                  <a:srgbClr val="0E7C7B"/>
                </a:solidFill>
                <a:latin typeface="Menlo"/>
              </a:rPr>
              <a:t>sha256:7c19…e2a4</a:t>
            </a:r>
          </a:p>
        </p:txBody>
      </p:sp>
      <p:sp>
        <p:nvSpPr>
          <p:cNvPr id="15" name="Rounded Rectangle 14"/>
          <p:cNvSpPr/>
          <p:nvPr/>
        </p:nvSpPr>
        <p:spPr>
          <a:xfrm>
            <a:off x="640080" y="3749039"/>
            <a:ext cx="4023360" cy="1335024"/>
          </a:xfrm>
          <a:prstGeom prst="roundRect">
            <a:avLst/>
          </a:prstGeom>
          <a:solidFill>
            <a:srgbClr val="FAF7F0"/>
          </a:solidFill>
          <a:ln w="15875">
            <a:solidFill>
              <a:srgbClr val="B32D2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40080" y="3749039"/>
            <a:ext cx="4023360" cy="310896"/>
          </a:xfrm>
          <a:prstGeom prst="roundRect">
            <a:avLst/>
          </a:prstGeom>
          <a:solidFill>
            <a:srgbClr val="1B2A41"/>
          </a:solidFill>
          <a:ln w="15875">
            <a:solidFill>
              <a:srgbClr val="B32D2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SAME ARTIFACT, ONE DIGIT ALTERED</a:t>
            </a:r>
          </a:p>
        </p:txBody>
      </p:sp>
      <p:sp>
        <p:nvSpPr>
          <p:cNvPr id="17" name="TextBox 16"/>
          <p:cNvSpPr txBox="1"/>
          <p:nvPr/>
        </p:nvSpPr>
        <p:spPr>
          <a:xfrm>
            <a:off x="749808" y="4096511"/>
            <a:ext cx="3840480" cy="237744"/>
          </a:xfrm>
          <a:prstGeom prst="rect">
            <a:avLst/>
          </a:prstGeom>
          <a:noFill/>
        </p:spPr>
        <p:txBody>
          <a:bodyPr wrap="square">
            <a:spAutoFit/>
          </a:bodyPr>
          <a:lstStyle/>
          <a:p>
            <a:pPr algn="l"/>
            <a:r>
              <a:rPr sz="1050" b="0" i="0">
                <a:solidFill>
                  <a:srgbClr val="1B2A41"/>
                </a:solidFill>
                <a:latin typeface="Menlo"/>
              </a:rPr>
              <a:t>doc_id   : LN-2025-088231</a:t>
            </a:r>
          </a:p>
        </p:txBody>
      </p:sp>
      <p:sp>
        <p:nvSpPr>
          <p:cNvPr id="18" name="TextBox 17"/>
          <p:cNvSpPr txBox="1"/>
          <p:nvPr/>
        </p:nvSpPr>
        <p:spPr>
          <a:xfrm>
            <a:off x="749808" y="4334255"/>
            <a:ext cx="3840480" cy="237744"/>
          </a:xfrm>
          <a:prstGeom prst="rect">
            <a:avLst/>
          </a:prstGeom>
          <a:noFill/>
        </p:spPr>
        <p:txBody>
          <a:bodyPr wrap="square">
            <a:spAutoFit/>
          </a:bodyPr>
          <a:lstStyle/>
          <a:p>
            <a:pPr algn="l"/>
            <a:r>
              <a:rPr sz="1050" b="0" i="0">
                <a:solidFill>
                  <a:srgbClr val="1B2A41"/>
                </a:solidFill>
                <a:latin typeface="Menlo"/>
              </a:rPr>
              <a:t>type     : loan_file</a:t>
            </a:r>
          </a:p>
        </p:txBody>
      </p:sp>
      <p:sp>
        <p:nvSpPr>
          <p:cNvPr id="19" name="TextBox 18"/>
          <p:cNvSpPr txBox="1"/>
          <p:nvPr/>
        </p:nvSpPr>
        <p:spPr>
          <a:xfrm>
            <a:off x="749808" y="4571999"/>
            <a:ext cx="3840480" cy="237744"/>
          </a:xfrm>
          <a:prstGeom prst="rect">
            <a:avLst/>
          </a:prstGeom>
          <a:noFill/>
        </p:spPr>
        <p:txBody>
          <a:bodyPr wrap="square">
            <a:spAutoFit/>
          </a:bodyPr>
          <a:lstStyle/>
          <a:p>
            <a:pPr algn="l"/>
            <a:r>
              <a:rPr sz="1050" b="0" i="0">
                <a:solidFill>
                  <a:srgbClr val="B32D2D"/>
                </a:solidFill>
                <a:latin typeface="Menlo"/>
              </a:rPr>
              <a:t>balance  : $214,809.00   ◄ 3→8</a:t>
            </a:r>
          </a:p>
        </p:txBody>
      </p:sp>
      <p:sp>
        <p:nvSpPr>
          <p:cNvPr id="20" name="TextBox 19"/>
          <p:cNvSpPr txBox="1"/>
          <p:nvPr/>
        </p:nvSpPr>
        <p:spPr>
          <a:xfrm>
            <a:off x="749808" y="4809743"/>
            <a:ext cx="3840480" cy="237744"/>
          </a:xfrm>
          <a:prstGeom prst="rect">
            <a:avLst/>
          </a:prstGeom>
          <a:noFill/>
        </p:spPr>
        <p:txBody>
          <a:bodyPr wrap="square">
            <a:spAutoFit/>
          </a:bodyPr>
          <a:lstStyle/>
          <a:p>
            <a:pPr algn="l"/>
            <a:r>
              <a:rPr sz="1050" b="0" i="0">
                <a:solidFill>
                  <a:srgbClr val="1B2A41"/>
                </a:solidFill>
                <a:latin typeface="Menlo"/>
              </a:rPr>
              <a:t>bytes    : 1,482,003</a:t>
            </a:r>
          </a:p>
        </p:txBody>
      </p:sp>
      <p:sp>
        <p:nvSpPr>
          <p:cNvPr id="21" name="TextBox 20"/>
          <p:cNvSpPr txBox="1"/>
          <p:nvPr/>
        </p:nvSpPr>
        <p:spPr>
          <a:xfrm>
            <a:off x="4800600" y="4069080"/>
            <a:ext cx="1097280" cy="365760"/>
          </a:xfrm>
          <a:prstGeom prst="rect">
            <a:avLst/>
          </a:prstGeom>
          <a:noFill/>
        </p:spPr>
        <p:txBody>
          <a:bodyPr wrap="square">
            <a:spAutoFit/>
          </a:bodyPr>
          <a:lstStyle/>
          <a:p>
            <a:pPr algn="ctr"/>
            <a:r>
              <a:rPr sz="1200" b="1" i="0">
                <a:solidFill>
                  <a:srgbClr val="B32D2D"/>
                </a:solidFill>
                <a:latin typeface="Avenir Next"/>
              </a:rPr>
              <a:t>sha256</a:t>
            </a:r>
          </a:p>
        </p:txBody>
      </p:sp>
      <p:cxnSp>
        <p:nvCxnSpPr>
          <p:cNvPr id="22" name="Connector 21"/>
          <p:cNvCxnSpPr/>
          <p:nvPr/>
        </p:nvCxnSpPr>
        <p:spPr>
          <a:xfrm>
            <a:off x="4709160" y="4480560"/>
            <a:ext cx="1097280" cy="0"/>
          </a:xfrm>
          <a:prstGeom prst="line">
            <a:avLst/>
          </a:prstGeom>
          <a:ln w="25400">
            <a:solidFill>
              <a:srgbClr val="B32D2D"/>
            </a:solidFill>
            <a:tailEnd type="arrow"/>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943600" y="4069080"/>
            <a:ext cx="3749039" cy="621792"/>
          </a:xfrm>
          <a:prstGeom prst="roundRect">
            <a:avLst/>
          </a:prstGeom>
          <a:solidFill>
            <a:srgbClr val="E7EEF2"/>
          </a:solidFill>
          <a:ln w="15875">
            <a:solidFill>
              <a:srgbClr val="B32D2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5943600" y="4069080"/>
            <a:ext cx="3749039" cy="310896"/>
          </a:xfrm>
          <a:prstGeom prst="roundRect">
            <a:avLst/>
          </a:prstGeom>
          <a:solidFill>
            <a:srgbClr val="1B2A41"/>
          </a:solidFill>
          <a:ln w="15875">
            <a:solidFill>
              <a:srgbClr val="B32D2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DIGEST</a:t>
            </a:r>
          </a:p>
        </p:txBody>
      </p:sp>
      <p:sp>
        <p:nvSpPr>
          <p:cNvPr id="25" name="TextBox 24"/>
          <p:cNvSpPr txBox="1"/>
          <p:nvPr/>
        </p:nvSpPr>
        <p:spPr>
          <a:xfrm>
            <a:off x="6053328" y="4416552"/>
            <a:ext cx="3566159" cy="237744"/>
          </a:xfrm>
          <a:prstGeom prst="rect">
            <a:avLst/>
          </a:prstGeom>
          <a:noFill/>
        </p:spPr>
        <p:txBody>
          <a:bodyPr wrap="square">
            <a:spAutoFit/>
          </a:bodyPr>
          <a:lstStyle/>
          <a:p>
            <a:pPr algn="l"/>
            <a:r>
              <a:rPr sz="1200" b="0" i="0">
                <a:solidFill>
                  <a:srgbClr val="B32D2D"/>
                </a:solidFill>
                <a:latin typeface="Menlo"/>
              </a:rPr>
              <a:t>sha256:03be…44c2</a:t>
            </a:r>
          </a:p>
        </p:txBody>
      </p:sp>
      <p:sp>
        <p:nvSpPr>
          <p:cNvPr id="26" name="TextBox 25"/>
          <p:cNvSpPr txBox="1"/>
          <p:nvPr/>
        </p:nvSpPr>
        <p:spPr>
          <a:xfrm>
            <a:off x="9966960" y="2377440"/>
            <a:ext cx="2103120" cy="3017520"/>
          </a:xfrm>
          <a:prstGeom prst="rect">
            <a:avLst/>
          </a:prstGeom>
          <a:noFill/>
        </p:spPr>
        <p:txBody>
          <a:bodyPr wrap="square">
            <a:spAutoFit/>
          </a:bodyPr>
          <a:lstStyle/>
          <a:p>
            <a:pPr algn="l"/>
            <a:r>
              <a:rPr sz="1250" b="0" i="0">
                <a:solidFill>
                  <a:srgbClr val="6B7480"/>
                </a:solidFill>
                <a:latin typeface="Avenir Next"/>
              </a:rPr>
              <a:t>Every bit of the</a:t>
            </a:r>
          </a:p>
          <a:p>
            <a:pPr algn="l"/>
            <a:r>
              <a:rPr sz="1250" b="0" i="0">
                <a:solidFill>
                  <a:srgbClr val="6B7480"/>
                </a:solidFill>
                <a:latin typeface="Avenir Next"/>
              </a:rPr>
              <a:t>digest moves.</a:t>
            </a:r>
          </a:p>
          <a:p>
            <a:pPr algn="l"/>
          </a:p>
          <a:p>
            <a:pPr algn="l"/>
            <a:r>
              <a:rPr sz="1250" b="0" i="0">
                <a:solidFill>
                  <a:srgbClr val="6B7480"/>
                </a:solidFill>
                <a:latin typeface="Avenir Next"/>
              </a:rPr>
              <a:t>You cannot steer</a:t>
            </a:r>
          </a:p>
          <a:p>
            <a:pPr algn="l"/>
            <a:r>
              <a:rPr sz="1250" b="0" i="0">
                <a:solidFill>
                  <a:srgbClr val="6B7480"/>
                </a:solidFill>
                <a:latin typeface="Avenir Next"/>
              </a:rPr>
              <a:t>it, reverse it, or</a:t>
            </a:r>
          </a:p>
          <a:p>
            <a:pPr algn="l"/>
            <a:r>
              <a:rPr sz="1250" b="0" i="0">
                <a:solidFill>
                  <a:srgbClr val="6B7480"/>
                </a:solidFill>
                <a:latin typeface="Avenir Next"/>
              </a:rPr>
              <a:t>find a second</a:t>
            </a:r>
          </a:p>
          <a:p>
            <a:pPr algn="l"/>
            <a:r>
              <a:rPr sz="1250" b="0" i="0">
                <a:solidFill>
                  <a:srgbClr val="6B7480"/>
                </a:solidFill>
                <a:latin typeface="Avenir Next"/>
              </a:rPr>
              <a:t>input that</a:t>
            </a:r>
          </a:p>
          <a:p>
            <a:pPr algn="l"/>
            <a:r>
              <a:rPr sz="1250" b="0" i="0">
                <a:solidFill>
                  <a:srgbClr val="6B7480"/>
                </a:solidFill>
                <a:latin typeface="Avenir Next"/>
              </a:rPr>
              <a:t>matches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Building block 2 — the chain entry and its keyed hash (MAC)</a:t>
            </a:r>
          </a:p>
        </p:txBody>
      </p:sp>
      <p:sp>
        <p:nvSpPr>
          <p:cNvPr id="3" name="TextBox 2"/>
          <p:cNvSpPr txBox="1"/>
          <p:nvPr/>
        </p:nvSpPr>
        <p:spPr>
          <a:xfrm>
            <a:off x="548640" y="868680"/>
            <a:ext cx="11064240" cy="457200"/>
          </a:xfrm>
          <a:prstGeom prst="rect">
            <a:avLst/>
          </a:prstGeom>
          <a:noFill/>
        </p:spPr>
        <p:txBody>
          <a:bodyPr wrap="square">
            <a:spAutoFit/>
          </a:bodyPr>
          <a:lstStyle/>
          <a:p>
            <a:pPr algn="l"/>
            <a:r>
              <a:rPr sz="1400" b="0" i="1">
                <a:solidFill>
                  <a:srgbClr val="6B7480"/>
                </a:solidFill>
                <a:latin typeface="Avenir Next"/>
              </a:rPr>
              <a:t>The artifact's digest is committed inside an entry, authenticated under a registered key</a:t>
            </a:r>
          </a:p>
        </p:txBody>
      </p:sp>
      <p:sp>
        <p:nvSpPr>
          <p:cNvPr id="4" name="Rounded Rectangle 3"/>
          <p:cNvSpPr/>
          <p:nvPr/>
        </p:nvSpPr>
        <p:spPr>
          <a:xfrm>
            <a:off x="640080" y="1645920"/>
            <a:ext cx="5669280" cy="2286000"/>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640080" y="1645920"/>
            <a:ext cx="566928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CHAIN ENTRY  E-2025-05-23-0412</a:t>
            </a:r>
          </a:p>
        </p:txBody>
      </p:sp>
      <p:sp>
        <p:nvSpPr>
          <p:cNvPr id="6" name="TextBox 5"/>
          <p:cNvSpPr txBox="1"/>
          <p:nvPr/>
        </p:nvSpPr>
        <p:spPr>
          <a:xfrm>
            <a:off x="749808" y="1993392"/>
            <a:ext cx="5486400" cy="237744"/>
          </a:xfrm>
          <a:prstGeom prst="rect">
            <a:avLst/>
          </a:prstGeom>
          <a:noFill/>
        </p:spPr>
        <p:txBody>
          <a:bodyPr wrap="square">
            <a:spAutoFit/>
          </a:bodyPr>
          <a:lstStyle/>
          <a:p>
            <a:pPr algn="l"/>
            <a:r>
              <a:rPr sz="1050" b="0" i="0">
                <a:solidFill>
                  <a:srgbClr val="1B2A41"/>
                </a:solidFill>
                <a:latin typeface="Menlo"/>
              </a:rPr>
              <a:t>entry_id       : E-2025-05-23-0412</a:t>
            </a:r>
          </a:p>
        </p:txBody>
      </p:sp>
      <p:sp>
        <p:nvSpPr>
          <p:cNvPr id="7" name="TextBox 6"/>
          <p:cNvSpPr txBox="1"/>
          <p:nvPr/>
        </p:nvSpPr>
        <p:spPr>
          <a:xfrm>
            <a:off x="749808" y="2231136"/>
            <a:ext cx="5486400" cy="237744"/>
          </a:xfrm>
          <a:prstGeom prst="rect">
            <a:avLst/>
          </a:prstGeom>
          <a:noFill/>
        </p:spPr>
        <p:txBody>
          <a:bodyPr wrap="square">
            <a:spAutoFit/>
          </a:bodyPr>
          <a:lstStyle/>
          <a:p>
            <a:pPr algn="l"/>
            <a:r>
              <a:rPr sz="1050" b="0" i="0">
                <a:solidFill>
                  <a:srgbClr val="1B2A41"/>
                </a:solidFill>
                <a:latin typeface="Menlo"/>
              </a:rPr>
              <a:t>ts             : 2025-05-23T14:07:31Z</a:t>
            </a:r>
          </a:p>
        </p:txBody>
      </p:sp>
      <p:sp>
        <p:nvSpPr>
          <p:cNvPr id="8" name="TextBox 7"/>
          <p:cNvSpPr txBox="1"/>
          <p:nvPr/>
        </p:nvSpPr>
        <p:spPr>
          <a:xfrm>
            <a:off x="749808" y="2468880"/>
            <a:ext cx="5486400" cy="237744"/>
          </a:xfrm>
          <a:prstGeom prst="rect">
            <a:avLst/>
          </a:prstGeom>
          <a:noFill/>
        </p:spPr>
        <p:txBody>
          <a:bodyPr wrap="square">
            <a:spAutoFit/>
          </a:bodyPr>
          <a:lstStyle/>
          <a:p>
            <a:pPr algn="l"/>
            <a:r>
              <a:rPr sz="1050" b="0" i="0">
                <a:solidFill>
                  <a:srgbClr val="0E7C7B"/>
                </a:solidFill>
                <a:latin typeface="Menlo"/>
              </a:rPr>
              <a:t>artifact_hash  : sha256:7c19…e2a4   ◄ the loan file</a:t>
            </a:r>
          </a:p>
        </p:txBody>
      </p:sp>
      <p:sp>
        <p:nvSpPr>
          <p:cNvPr id="9" name="TextBox 8"/>
          <p:cNvSpPr txBox="1"/>
          <p:nvPr/>
        </p:nvSpPr>
        <p:spPr>
          <a:xfrm>
            <a:off x="749808" y="2706624"/>
            <a:ext cx="5486400" cy="237744"/>
          </a:xfrm>
          <a:prstGeom prst="rect">
            <a:avLst/>
          </a:prstGeom>
          <a:noFill/>
        </p:spPr>
        <p:txBody>
          <a:bodyPr wrap="square">
            <a:spAutoFit/>
          </a:bodyPr>
          <a:lstStyle/>
          <a:p>
            <a:pPr algn="l"/>
            <a:r>
              <a:rPr sz="1050" b="0" i="0">
                <a:solidFill>
                  <a:srgbClr val="1B2A41"/>
                </a:solidFill>
                <a:latin typeface="Menlo"/>
              </a:rPr>
              <a:t>attributes     : audit.artifact.kind=loan_file,</a:t>
            </a:r>
          </a:p>
        </p:txBody>
      </p:sp>
      <p:sp>
        <p:nvSpPr>
          <p:cNvPr id="10" name="TextBox 9"/>
          <p:cNvSpPr txBox="1"/>
          <p:nvPr/>
        </p:nvSpPr>
        <p:spPr>
          <a:xfrm>
            <a:off x="749808" y="2944368"/>
            <a:ext cx="5486400" cy="237744"/>
          </a:xfrm>
          <a:prstGeom prst="rect">
            <a:avLst/>
          </a:prstGeom>
          <a:noFill/>
        </p:spPr>
        <p:txBody>
          <a:bodyPr wrap="square">
            <a:spAutoFit/>
          </a:bodyPr>
          <a:lstStyle/>
          <a:p>
            <a:pPr algn="l"/>
            <a:r>
              <a:rPr sz="1050" b="0" i="0">
                <a:solidFill>
                  <a:srgbClr val="1B2A41"/>
                </a:solidFill>
                <a:latin typeface="Menlo"/>
              </a:rPr>
              <a:t>                 audit.actor.id=lending-ops-svc …</a:t>
            </a:r>
          </a:p>
        </p:txBody>
      </p:sp>
      <p:sp>
        <p:nvSpPr>
          <p:cNvPr id="11" name="TextBox 10"/>
          <p:cNvSpPr txBox="1"/>
          <p:nvPr/>
        </p:nvSpPr>
        <p:spPr>
          <a:xfrm>
            <a:off x="749808" y="3182111"/>
            <a:ext cx="5486400" cy="237744"/>
          </a:xfrm>
          <a:prstGeom prst="rect">
            <a:avLst/>
          </a:prstGeom>
          <a:noFill/>
        </p:spPr>
        <p:txBody>
          <a:bodyPr wrap="square">
            <a:spAutoFit/>
          </a:bodyPr>
          <a:lstStyle/>
          <a:p>
            <a:pPr algn="l"/>
            <a:r>
              <a:rPr sz="1050" b="0" i="0">
                <a:solidFill>
                  <a:srgbClr val="C99A2E"/>
                </a:solidFill>
                <a:latin typeface="Menlo"/>
              </a:rPr>
              <a:t>prev_entry_mac : 5d81…e903          (next slide)</a:t>
            </a:r>
          </a:p>
        </p:txBody>
      </p:sp>
      <p:sp>
        <p:nvSpPr>
          <p:cNvPr id="12" name="TextBox 11"/>
          <p:cNvSpPr txBox="1"/>
          <p:nvPr/>
        </p:nvSpPr>
        <p:spPr>
          <a:xfrm>
            <a:off x="749808" y="3419855"/>
            <a:ext cx="5486400" cy="237744"/>
          </a:xfrm>
          <a:prstGeom prst="rect">
            <a:avLst/>
          </a:prstGeom>
          <a:noFill/>
        </p:spPr>
        <p:txBody>
          <a:bodyPr wrap="square">
            <a:spAutoFit/>
          </a:bodyPr>
          <a:lstStyle/>
          <a:p>
            <a:pPr algn="l"/>
            <a:r>
              <a:rPr sz="1050" b="0" i="0">
                <a:solidFill>
                  <a:srgbClr val="1B2A41"/>
                </a:solidFill>
                <a:latin typeface="Menlo"/>
              </a:rPr>
              <a:t>key_id         : ikm-2025-Q2-07</a:t>
            </a:r>
          </a:p>
        </p:txBody>
      </p:sp>
      <p:sp>
        <p:nvSpPr>
          <p:cNvPr id="13" name="TextBox 12"/>
          <p:cNvSpPr txBox="1"/>
          <p:nvPr/>
        </p:nvSpPr>
        <p:spPr>
          <a:xfrm>
            <a:off x="749808" y="3657599"/>
            <a:ext cx="5486400" cy="237744"/>
          </a:xfrm>
          <a:prstGeom prst="rect">
            <a:avLst/>
          </a:prstGeom>
          <a:noFill/>
        </p:spPr>
        <p:txBody>
          <a:bodyPr wrap="square">
            <a:spAutoFit/>
          </a:bodyPr>
          <a:lstStyle/>
          <a:p>
            <a:pPr algn="l"/>
            <a:r>
              <a:rPr sz="1050" b="0" i="0">
                <a:solidFill>
                  <a:srgbClr val="0E7C7B"/>
                </a:solidFill>
                <a:latin typeface="Menlo"/>
              </a:rPr>
              <a:t>mac            : b44a…91c7 = MAC(key, all fields)</a:t>
            </a:r>
          </a:p>
        </p:txBody>
      </p:sp>
      <p:sp>
        <p:nvSpPr>
          <p:cNvPr id="14" name="Rounded Rectangle 13"/>
          <p:cNvSpPr/>
          <p:nvPr/>
        </p:nvSpPr>
        <p:spPr>
          <a:xfrm>
            <a:off x="6766560" y="2103120"/>
            <a:ext cx="2377440" cy="859536"/>
          </a:xfrm>
          <a:prstGeom prst="roundRect">
            <a:avLst/>
          </a:prstGeom>
          <a:solidFill>
            <a:srgbClr val="E7EEF2"/>
          </a:solidFill>
          <a:ln w="15875">
            <a:solidFill>
              <a:srgbClr val="0E7C7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0" y="2103120"/>
            <a:ext cx="2377440" cy="310896"/>
          </a:xfrm>
          <a:prstGeom prst="roundRect">
            <a:avLst/>
          </a:prstGeom>
          <a:solidFill>
            <a:srgbClr val="1B2A41"/>
          </a:solidFill>
          <a:ln w="15875">
            <a:solidFill>
              <a:srgbClr val="0E7C7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KEY  ikm-2025-Q2-07</a:t>
            </a:r>
          </a:p>
        </p:txBody>
      </p:sp>
      <p:sp>
        <p:nvSpPr>
          <p:cNvPr id="16" name="TextBox 15"/>
          <p:cNvSpPr txBox="1"/>
          <p:nvPr/>
        </p:nvSpPr>
        <p:spPr>
          <a:xfrm>
            <a:off x="6876288" y="2450591"/>
            <a:ext cx="2194560" cy="237744"/>
          </a:xfrm>
          <a:prstGeom prst="rect">
            <a:avLst/>
          </a:prstGeom>
          <a:noFill/>
        </p:spPr>
        <p:txBody>
          <a:bodyPr wrap="square">
            <a:spAutoFit/>
          </a:bodyPr>
          <a:lstStyle/>
          <a:p>
            <a:pPr algn="l"/>
            <a:r>
              <a:rPr sz="1000" b="0" i="0">
                <a:solidFill>
                  <a:srgbClr val="1B2A41"/>
                </a:solidFill>
                <a:latin typeface="Menlo"/>
              </a:rPr>
              <a:t>from IKM registry</a:t>
            </a:r>
          </a:p>
        </p:txBody>
      </p:sp>
      <p:sp>
        <p:nvSpPr>
          <p:cNvPr id="17" name="TextBox 16"/>
          <p:cNvSpPr txBox="1"/>
          <p:nvPr/>
        </p:nvSpPr>
        <p:spPr>
          <a:xfrm>
            <a:off x="6876288" y="2688335"/>
            <a:ext cx="2194560" cy="237744"/>
          </a:xfrm>
          <a:prstGeom prst="rect">
            <a:avLst/>
          </a:prstGeom>
          <a:noFill/>
        </p:spPr>
        <p:txBody>
          <a:bodyPr wrap="square">
            <a:spAutoFit/>
          </a:bodyPr>
          <a:lstStyle/>
          <a:p>
            <a:pPr algn="l"/>
            <a:r>
              <a:rPr sz="1000" b="0" i="0">
                <a:solidFill>
                  <a:srgbClr val="1B2A41"/>
                </a:solidFill>
                <a:latin typeface="Menlo"/>
              </a:rPr>
              <a:t>window: Q2 2025</a:t>
            </a:r>
          </a:p>
        </p:txBody>
      </p:sp>
      <p:cxnSp>
        <p:nvCxnSpPr>
          <p:cNvPr id="18" name="Connector 17"/>
          <p:cNvCxnSpPr/>
          <p:nvPr/>
        </p:nvCxnSpPr>
        <p:spPr>
          <a:xfrm flipH="1">
            <a:off x="6309360" y="2743200"/>
            <a:ext cx="457200" cy="365760"/>
          </a:xfrm>
          <a:prstGeom prst="line">
            <a:avLst/>
          </a:prstGeom>
          <a:ln w="25400">
            <a:solidFill>
              <a:srgbClr val="0E7C7B"/>
            </a:solidFill>
            <a:tailEnd type="arrow"/>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766560" y="4023360"/>
            <a:ext cx="4846320" cy="2011680"/>
          </a:xfrm>
          <a:prstGeom prst="rect">
            <a:avLst/>
          </a:prstGeom>
          <a:noFill/>
        </p:spPr>
        <p:txBody>
          <a:bodyPr wrap="square">
            <a:spAutoFit/>
          </a:bodyPr>
          <a:lstStyle/>
          <a:p>
            <a:pPr algn="l"/>
            <a:r>
              <a:rPr sz="1350" b="0" i="0">
                <a:solidFill>
                  <a:srgbClr val="1B2A41"/>
                </a:solidFill>
                <a:latin typeface="Avenir Next"/>
              </a:rPr>
              <a:t>A plain hash proves the bytes are intact.</a:t>
            </a:r>
          </a:p>
          <a:p>
            <a:pPr algn="l"/>
            <a:r>
              <a:rPr sz="1350" b="0" i="0">
                <a:solidFill>
                  <a:srgbClr val="1B2A41"/>
                </a:solidFill>
                <a:latin typeface="Avenir Next"/>
              </a:rPr>
              <a:t>A keyed hash (MAC) proves intact AND</a:t>
            </a:r>
          </a:p>
          <a:p>
            <a:pPr algn="l"/>
            <a:r>
              <a:rPr sz="1350" b="0" i="0">
                <a:solidFill>
                  <a:srgbClr val="1B2A41"/>
                </a:solidFill>
                <a:latin typeface="Avenir Next"/>
              </a:rPr>
              <a:t>committed by something holding the key.</a:t>
            </a:r>
          </a:p>
          <a:p>
            <a:pPr algn="l"/>
          </a:p>
          <a:p>
            <a:pPr algn="l"/>
            <a:r>
              <a:rPr sz="1350" b="0" i="0">
                <a:solidFill>
                  <a:srgbClr val="1B2A41"/>
                </a:solidFill>
                <a:latin typeface="Avenir Next"/>
              </a:rPr>
              <a:t>One MAC per event — the per-event layer.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Building block 3 — the chain</a:t>
            </a:r>
          </a:p>
        </p:txBody>
      </p:sp>
      <p:sp>
        <p:nvSpPr>
          <p:cNvPr id="3" name="TextBox 2"/>
          <p:cNvSpPr txBox="1"/>
          <p:nvPr/>
        </p:nvSpPr>
        <p:spPr>
          <a:xfrm>
            <a:off x="548640" y="868680"/>
            <a:ext cx="11064240" cy="457200"/>
          </a:xfrm>
          <a:prstGeom prst="rect">
            <a:avLst/>
          </a:prstGeom>
          <a:noFill/>
        </p:spPr>
        <p:txBody>
          <a:bodyPr wrap="square">
            <a:spAutoFit/>
          </a:bodyPr>
          <a:lstStyle/>
          <a:p>
            <a:pPr algn="l"/>
            <a:r>
              <a:rPr sz="1400" b="0" i="1">
                <a:solidFill>
                  <a:srgbClr val="6B7480"/>
                </a:solidFill>
                <a:latin typeface="Avenir Next"/>
              </a:rPr>
              <a:t>Every entry binds the previous entry's MAC: order becomes provable</a:t>
            </a:r>
          </a:p>
        </p:txBody>
      </p:sp>
      <p:sp>
        <p:nvSpPr>
          <p:cNvPr id="4" name="Rounded Rectangle 3"/>
          <p:cNvSpPr/>
          <p:nvPr/>
        </p:nvSpPr>
        <p:spPr>
          <a:xfrm>
            <a:off x="411480" y="1828800"/>
            <a:ext cx="3657600" cy="1335024"/>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411480" y="1828800"/>
            <a:ext cx="365760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E-2025-05-23-0410</a:t>
            </a:r>
          </a:p>
        </p:txBody>
      </p:sp>
      <p:sp>
        <p:nvSpPr>
          <p:cNvPr id="6" name="TextBox 5"/>
          <p:cNvSpPr txBox="1"/>
          <p:nvPr/>
        </p:nvSpPr>
        <p:spPr>
          <a:xfrm>
            <a:off x="521208" y="2176272"/>
            <a:ext cx="3474720" cy="237744"/>
          </a:xfrm>
          <a:prstGeom prst="rect">
            <a:avLst/>
          </a:prstGeom>
          <a:noFill/>
        </p:spPr>
        <p:txBody>
          <a:bodyPr wrap="square">
            <a:spAutoFit/>
          </a:bodyPr>
          <a:lstStyle/>
          <a:p>
            <a:pPr algn="l"/>
            <a:r>
              <a:rPr sz="1000" b="0" i="0">
                <a:solidFill>
                  <a:srgbClr val="1B2A41"/>
                </a:solidFill>
                <a:latin typeface="Menlo"/>
              </a:rPr>
              <a:t>artifact: sha256:90cd…77e8</a:t>
            </a:r>
          </a:p>
        </p:txBody>
      </p:sp>
      <p:sp>
        <p:nvSpPr>
          <p:cNvPr id="7" name="TextBox 6"/>
          <p:cNvSpPr txBox="1"/>
          <p:nvPr/>
        </p:nvSpPr>
        <p:spPr>
          <a:xfrm>
            <a:off x="521208" y="2414015"/>
            <a:ext cx="3474720" cy="237744"/>
          </a:xfrm>
          <a:prstGeom prst="rect">
            <a:avLst/>
          </a:prstGeom>
          <a:noFill/>
        </p:spPr>
        <p:txBody>
          <a:bodyPr wrap="square">
            <a:spAutoFit/>
          </a:bodyPr>
          <a:lstStyle/>
          <a:p>
            <a:pPr algn="l"/>
            <a:r>
              <a:rPr sz="1000" b="0" i="0">
                <a:solidFill>
                  <a:srgbClr val="1B2A41"/>
                </a:solidFill>
                <a:latin typeface="Menlo"/>
              </a:rPr>
              <a:t>prev    : c1a9…04f2</a:t>
            </a:r>
          </a:p>
        </p:txBody>
      </p:sp>
      <p:sp>
        <p:nvSpPr>
          <p:cNvPr id="8" name="TextBox 7"/>
          <p:cNvSpPr txBox="1"/>
          <p:nvPr/>
        </p:nvSpPr>
        <p:spPr>
          <a:xfrm>
            <a:off x="521208" y="2651759"/>
            <a:ext cx="3474720" cy="237744"/>
          </a:xfrm>
          <a:prstGeom prst="rect">
            <a:avLst/>
          </a:prstGeom>
          <a:noFill/>
        </p:spPr>
        <p:txBody>
          <a:bodyPr wrap="square">
            <a:spAutoFit/>
          </a:bodyPr>
          <a:lstStyle/>
          <a:p>
            <a:pPr algn="l"/>
            <a:r>
              <a:rPr sz="1000" b="0" i="0">
                <a:solidFill>
                  <a:srgbClr val="1B2A41"/>
                </a:solidFill>
                <a:latin typeface="Menlo"/>
              </a:rPr>
              <a:t>key_id  : ikm-2025-Q2-07</a:t>
            </a:r>
          </a:p>
        </p:txBody>
      </p:sp>
      <p:sp>
        <p:nvSpPr>
          <p:cNvPr id="9" name="TextBox 8"/>
          <p:cNvSpPr txBox="1"/>
          <p:nvPr/>
        </p:nvSpPr>
        <p:spPr>
          <a:xfrm>
            <a:off x="521208" y="2889503"/>
            <a:ext cx="3474720" cy="237744"/>
          </a:xfrm>
          <a:prstGeom prst="rect">
            <a:avLst/>
          </a:prstGeom>
          <a:noFill/>
        </p:spPr>
        <p:txBody>
          <a:bodyPr wrap="square">
            <a:spAutoFit/>
          </a:bodyPr>
          <a:lstStyle/>
          <a:p>
            <a:pPr algn="l"/>
            <a:r>
              <a:rPr sz="1000" b="0" i="0">
                <a:solidFill>
                  <a:srgbClr val="C99A2E"/>
                </a:solidFill>
                <a:latin typeface="Menlo"/>
              </a:rPr>
              <a:t>mac     : 27f0…6c11 ──┐</a:t>
            </a:r>
          </a:p>
        </p:txBody>
      </p:sp>
      <p:sp>
        <p:nvSpPr>
          <p:cNvPr id="10" name="Rounded Rectangle 9"/>
          <p:cNvSpPr/>
          <p:nvPr/>
        </p:nvSpPr>
        <p:spPr>
          <a:xfrm>
            <a:off x="4343400" y="1828800"/>
            <a:ext cx="3657600" cy="1335024"/>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343400" y="1828800"/>
            <a:ext cx="365760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E-2025-05-23-0411</a:t>
            </a:r>
          </a:p>
        </p:txBody>
      </p:sp>
      <p:sp>
        <p:nvSpPr>
          <p:cNvPr id="12" name="TextBox 11"/>
          <p:cNvSpPr txBox="1"/>
          <p:nvPr/>
        </p:nvSpPr>
        <p:spPr>
          <a:xfrm>
            <a:off x="4453128" y="2176272"/>
            <a:ext cx="3474720" cy="237744"/>
          </a:xfrm>
          <a:prstGeom prst="rect">
            <a:avLst/>
          </a:prstGeom>
          <a:noFill/>
        </p:spPr>
        <p:txBody>
          <a:bodyPr wrap="square">
            <a:spAutoFit/>
          </a:bodyPr>
          <a:lstStyle/>
          <a:p>
            <a:pPr algn="l"/>
            <a:r>
              <a:rPr sz="1000" b="0" i="0">
                <a:solidFill>
                  <a:srgbClr val="1B2A41"/>
                </a:solidFill>
                <a:latin typeface="Menlo"/>
              </a:rPr>
              <a:t>artifact: sha256:aa02…19bd</a:t>
            </a:r>
          </a:p>
        </p:txBody>
      </p:sp>
      <p:sp>
        <p:nvSpPr>
          <p:cNvPr id="13" name="TextBox 12"/>
          <p:cNvSpPr txBox="1"/>
          <p:nvPr/>
        </p:nvSpPr>
        <p:spPr>
          <a:xfrm>
            <a:off x="4453128" y="2414015"/>
            <a:ext cx="3474720" cy="237744"/>
          </a:xfrm>
          <a:prstGeom prst="rect">
            <a:avLst/>
          </a:prstGeom>
          <a:noFill/>
        </p:spPr>
        <p:txBody>
          <a:bodyPr wrap="square">
            <a:spAutoFit/>
          </a:bodyPr>
          <a:lstStyle/>
          <a:p>
            <a:pPr algn="l"/>
            <a:r>
              <a:rPr sz="1000" b="0" i="0">
                <a:solidFill>
                  <a:srgbClr val="C99A2E"/>
                </a:solidFill>
                <a:latin typeface="Menlo"/>
              </a:rPr>
              <a:t>prev    : 27f0…6c11 ◄─┘</a:t>
            </a:r>
          </a:p>
        </p:txBody>
      </p:sp>
      <p:sp>
        <p:nvSpPr>
          <p:cNvPr id="14" name="TextBox 13"/>
          <p:cNvSpPr txBox="1"/>
          <p:nvPr/>
        </p:nvSpPr>
        <p:spPr>
          <a:xfrm>
            <a:off x="4453128" y="2651759"/>
            <a:ext cx="3474720" cy="237744"/>
          </a:xfrm>
          <a:prstGeom prst="rect">
            <a:avLst/>
          </a:prstGeom>
          <a:noFill/>
        </p:spPr>
        <p:txBody>
          <a:bodyPr wrap="square">
            <a:spAutoFit/>
          </a:bodyPr>
          <a:lstStyle/>
          <a:p>
            <a:pPr algn="l"/>
            <a:r>
              <a:rPr sz="1000" b="0" i="0">
                <a:solidFill>
                  <a:srgbClr val="1B2A41"/>
                </a:solidFill>
                <a:latin typeface="Menlo"/>
              </a:rPr>
              <a:t>key_id  : ikm-2025-Q2-07</a:t>
            </a:r>
          </a:p>
        </p:txBody>
      </p:sp>
      <p:sp>
        <p:nvSpPr>
          <p:cNvPr id="15" name="TextBox 14"/>
          <p:cNvSpPr txBox="1"/>
          <p:nvPr/>
        </p:nvSpPr>
        <p:spPr>
          <a:xfrm>
            <a:off x="4453128" y="2889503"/>
            <a:ext cx="3474720" cy="237744"/>
          </a:xfrm>
          <a:prstGeom prst="rect">
            <a:avLst/>
          </a:prstGeom>
          <a:noFill/>
        </p:spPr>
        <p:txBody>
          <a:bodyPr wrap="square">
            <a:spAutoFit/>
          </a:bodyPr>
          <a:lstStyle/>
          <a:p>
            <a:pPr algn="l"/>
            <a:r>
              <a:rPr sz="1000" b="0" i="0">
                <a:solidFill>
                  <a:srgbClr val="C99A2E"/>
                </a:solidFill>
                <a:latin typeface="Menlo"/>
              </a:rPr>
              <a:t>mac     : 5d81…e903 ──┐</a:t>
            </a:r>
          </a:p>
        </p:txBody>
      </p:sp>
      <p:sp>
        <p:nvSpPr>
          <p:cNvPr id="16" name="Rounded Rectangle 15"/>
          <p:cNvSpPr/>
          <p:nvPr/>
        </p:nvSpPr>
        <p:spPr>
          <a:xfrm>
            <a:off x="8275320" y="1828800"/>
            <a:ext cx="3657600" cy="1335024"/>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8275320" y="1828800"/>
            <a:ext cx="365760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E-2025-05-23-0412</a:t>
            </a:r>
          </a:p>
        </p:txBody>
      </p:sp>
      <p:sp>
        <p:nvSpPr>
          <p:cNvPr id="18" name="TextBox 17"/>
          <p:cNvSpPr txBox="1"/>
          <p:nvPr/>
        </p:nvSpPr>
        <p:spPr>
          <a:xfrm>
            <a:off x="8385048" y="2176272"/>
            <a:ext cx="3474720" cy="237744"/>
          </a:xfrm>
          <a:prstGeom prst="rect">
            <a:avLst/>
          </a:prstGeom>
          <a:noFill/>
        </p:spPr>
        <p:txBody>
          <a:bodyPr wrap="square">
            <a:spAutoFit/>
          </a:bodyPr>
          <a:lstStyle/>
          <a:p>
            <a:pPr algn="l"/>
            <a:r>
              <a:rPr sz="1000" b="0" i="0">
                <a:solidFill>
                  <a:srgbClr val="1B2A41"/>
                </a:solidFill>
                <a:latin typeface="Menlo"/>
              </a:rPr>
              <a:t>artifact: sha256:7c19…e2a4</a:t>
            </a:r>
          </a:p>
        </p:txBody>
      </p:sp>
      <p:sp>
        <p:nvSpPr>
          <p:cNvPr id="19" name="TextBox 18"/>
          <p:cNvSpPr txBox="1"/>
          <p:nvPr/>
        </p:nvSpPr>
        <p:spPr>
          <a:xfrm>
            <a:off x="8385048" y="2414015"/>
            <a:ext cx="3474720" cy="237744"/>
          </a:xfrm>
          <a:prstGeom prst="rect">
            <a:avLst/>
          </a:prstGeom>
          <a:noFill/>
        </p:spPr>
        <p:txBody>
          <a:bodyPr wrap="square">
            <a:spAutoFit/>
          </a:bodyPr>
          <a:lstStyle/>
          <a:p>
            <a:pPr algn="l"/>
            <a:r>
              <a:rPr sz="1000" b="0" i="0">
                <a:solidFill>
                  <a:srgbClr val="C99A2E"/>
                </a:solidFill>
                <a:latin typeface="Menlo"/>
              </a:rPr>
              <a:t>prev    : 5d81…e903 ◄─┘</a:t>
            </a:r>
          </a:p>
        </p:txBody>
      </p:sp>
      <p:sp>
        <p:nvSpPr>
          <p:cNvPr id="20" name="TextBox 19"/>
          <p:cNvSpPr txBox="1"/>
          <p:nvPr/>
        </p:nvSpPr>
        <p:spPr>
          <a:xfrm>
            <a:off x="8385048" y="2651759"/>
            <a:ext cx="3474720" cy="237744"/>
          </a:xfrm>
          <a:prstGeom prst="rect">
            <a:avLst/>
          </a:prstGeom>
          <a:noFill/>
        </p:spPr>
        <p:txBody>
          <a:bodyPr wrap="square">
            <a:spAutoFit/>
          </a:bodyPr>
          <a:lstStyle/>
          <a:p>
            <a:pPr algn="l"/>
            <a:r>
              <a:rPr sz="1000" b="0" i="0">
                <a:solidFill>
                  <a:srgbClr val="1B2A41"/>
                </a:solidFill>
                <a:latin typeface="Menlo"/>
              </a:rPr>
              <a:t>key_id  : ikm-2025-Q2-07</a:t>
            </a:r>
          </a:p>
        </p:txBody>
      </p:sp>
      <p:sp>
        <p:nvSpPr>
          <p:cNvPr id="21" name="TextBox 20"/>
          <p:cNvSpPr txBox="1"/>
          <p:nvPr/>
        </p:nvSpPr>
        <p:spPr>
          <a:xfrm>
            <a:off x="8385048" y="2889503"/>
            <a:ext cx="3474720" cy="237744"/>
          </a:xfrm>
          <a:prstGeom prst="rect">
            <a:avLst/>
          </a:prstGeom>
          <a:noFill/>
        </p:spPr>
        <p:txBody>
          <a:bodyPr wrap="square">
            <a:spAutoFit/>
          </a:bodyPr>
          <a:lstStyle/>
          <a:p>
            <a:pPr algn="l"/>
            <a:r>
              <a:rPr sz="1000" b="0" i="0">
                <a:solidFill>
                  <a:srgbClr val="1B2A41"/>
                </a:solidFill>
                <a:latin typeface="Menlo"/>
              </a:rPr>
              <a:t>mac     : b44a…91c7 → 0413…</a:t>
            </a:r>
          </a:p>
        </p:txBody>
      </p:sp>
      <p:cxnSp>
        <p:nvCxnSpPr>
          <p:cNvPr id="22" name="Connector 21"/>
          <p:cNvCxnSpPr/>
          <p:nvPr/>
        </p:nvCxnSpPr>
        <p:spPr>
          <a:xfrm>
            <a:off x="4069080" y="2606040"/>
            <a:ext cx="274320" cy="0"/>
          </a:xfrm>
          <a:prstGeom prst="line">
            <a:avLst/>
          </a:prstGeom>
          <a:ln w="31750">
            <a:solidFill>
              <a:srgbClr val="C99A2E"/>
            </a:solidFill>
            <a:tailEnd type="arrow"/>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001000" y="2606040"/>
            <a:ext cx="274320" cy="0"/>
          </a:xfrm>
          <a:prstGeom prst="line">
            <a:avLst/>
          </a:prstGeom>
          <a:ln w="31750">
            <a:solidFill>
              <a:srgbClr val="C99A2E"/>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4023360"/>
            <a:ext cx="11155680" cy="1737360"/>
          </a:xfrm>
          <a:prstGeom prst="rect">
            <a:avLst/>
          </a:prstGeom>
          <a:noFill/>
        </p:spPr>
        <p:txBody>
          <a:bodyPr wrap="square">
            <a:spAutoFit/>
          </a:bodyPr>
          <a:lstStyle/>
          <a:p>
            <a:pPr algn="l"/>
            <a:r>
              <a:rPr sz="1450" b="0" i="0">
                <a:solidFill>
                  <a:srgbClr val="1B2A41"/>
                </a:solidFill>
                <a:latin typeface="Avenir Next"/>
              </a:rPr>
              <a:t>Each entry's mac covers its own fields INCLUDING prev_entry_mac — so 0412's mac depends on 0411's,</a:t>
            </a:r>
          </a:p>
          <a:p>
            <a:pPr algn="l"/>
            <a:r>
              <a:rPr sz="1450" b="0" i="0">
                <a:solidFill>
                  <a:srgbClr val="1B2A41"/>
                </a:solidFill>
                <a:latin typeface="Avenir Next"/>
              </a:rPr>
              <a:t>which depends on 0410's, all the way back to genesis. Insert, delete, or reorder anything and the links</a:t>
            </a:r>
          </a:p>
          <a:p>
            <a:pPr algn="l"/>
            <a:r>
              <a:rPr sz="1450" b="0" i="0">
                <a:solidFill>
                  <a:srgbClr val="1B2A41"/>
                </a:solidFill>
                <a:latin typeface="Avenir Next"/>
              </a:rPr>
              <a:t>stop matching. The chain protects the SEQUENCE, which is what lets an ordering claim</a:t>
            </a:r>
          </a:p>
          <a:p>
            <a:pPr algn="l"/>
            <a:r>
              <a:rPr sz="1450" b="0" i="0">
                <a:solidFill>
                  <a:srgbClr val="1B2A41"/>
                </a:solidFill>
                <a:latin typeface="Avenir Next"/>
              </a:rPr>
              <a:t>("regulator notice preceded customer notice") be proved, not asserted.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Building block 4 — the Merkle tree and the daily seal</a:t>
            </a:r>
          </a:p>
        </p:txBody>
      </p:sp>
      <p:sp>
        <p:nvSpPr>
          <p:cNvPr id="3" name="TextBox 2"/>
          <p:cNvSpPr txBox="1"/>
          <p:nvPr/>
        </p:nvSpPr>
        <p:spPr>
          <a:xfrm>
            <a:off x="548640" y="868680"/>
            <a:ext cx="11064240" cy="457200"/>
          </a:xfrm>
          <a:prstGeom prst="rect">
            <a:avLst/>
          </a:prstGeom>
          <a:noFill/>
        </p:spPr>
        <p:txBody>
          <a:bodyPr wrap="square">
            <a:spAutoFit/>
          </a:bodyPr>
          <a:lstStyle/>
          <a:p>
            <a:pPr algn="l"/>
            <a:r>
              <a:rPr sz="1400" b="0" i="1">
                <a:solidFill>
                  <a:srgbClr val="6B7480"/>
                </a:solidFill>
                <a:latin typeface="Avenir Next"/>
              </a:rPr>
              <a:t>May 23, 2025: 517 entry MACs roll up to one root; the root is signed and published</a:t>
            </a:r>
          </a:p>
        </p:txBody>
      </p:sp>
      <p:sp>
        <p:nvSpPr>
          <p:cNvPr id="4" name="Rounded Rectangle 3"/>
          <p:cNvSpPr/>
          <p:nvPr/>
        </p:nvSpPr>
        <p:spPr>
          <a:xfrm>
            <a:off x="457200" y="4892040"/>
            <a:ext cx="2377440" cy="621792"/>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457200" y="4892040"/>
            <a:ext cx="237744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leaf 0411</a:t>
            </a:r>
          </a:p>
        </p:txBody>
      </p:sp>
      <p:sp>
        <p:nvSpPr>
          <p:cNvPr id="6" name="TextBox 5"/>
          <p:cNvSpPr txBox="1"/>
          <p:nvPr/>
        </p:nvSpPr>
        <p:spPr>
          <a:xfrm>
            <a:off x="566928" y="5239512"/>
            <a:ext cx="2194560" cy="237744"/>
          </a:xfrm>
          <a:prstGeom prst="rect">
            <a:avLst/>
          </a:prstGeom>
          <a:noFill/>
        </p:spPr>
        <p:txBody>
          <a:bodyPr wrap="square">
            <a:spAutoFit/>
          </a:bodyPr>
          <a:lstStyle/>
          <a:p>
            <a:pPr algn="l"/>
            <a:r>
              <a:rPr sz="1000" b="0" i="0">
                <a:solidFill>
                  <a:srgbClr val="1B2A41"/>
                </a:solidFill>
                <a:latin typeface="Menlo"/>
              </a:rPr>
              <a:t>5d81…e903</a:t>
            </a:r>
          </a:p>
        </p:txBody>
      </p:sp>
      <p:sp>
        <p:nvSpPr>
          <p:cNvPr id="7" name="Rounded Rectangle 6"/>
          <p:cNvSpPr/>
          <p:nvPr/>
        </p:nvSpPr>
        <p:spPr>
          <a:xfrm>
            <a:off x="3017520" y="4892040"/>
            <a:ext cx="2377440" cy="621792"/>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3017520" y="4892040"/>
            <a:ext cx="237744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leaf 0412</a:t>
            </a:r>
          </a:p>
        </p:txBody>
      </p:sp>
      <p:sp>
        <p:nvSpPr>
          <p:cNvPr id="9" name="TextBox 8"/>
          <p:cNvSpPr txBox="1"/>
          <p:nvPr/>
        </p:nvSpPr>
        <p:spPr>
          <a:xfrm>
            <a:off x="3127248" y="5239512"/>
            <a:ext cx="2194560" cy="237744"/>
          </a:xfrm>
          <a:prstGeom prst="rect">
            <a:avLst/>
          </a:prstGeom>
          <a:noFill/>
        </p:spPr>
        <p:txBody>
          <a:bodyPr wrap="square">
            <a:spAutoFit/>
          </a:bodyPr>
          <a:lstStyle/>
          <a:p>
            <a:pPr algn="l"/>
            <a:r>
              <a:rPr sz="1000" b="0" i="0">
                <a:solidFill>
                  <a:srgbClr val="1B2A41"/>
                </a:solidFill>
                <a:latin typeface="Menlo"/>
              </a:rPr>
              <a:t>b44a…91c7</a:t>
            </a:r>
          </a:p>
        </p:txBody>
      </p:sp>
      <p:sp>
        <p:nvSpPr>
          <p:cNvPr id="10" name="Rounded Rectangle 9"/>
          <p:cNvSpPr/>
          <p:nvPr/>
        </p:nvSpPr>
        <p:spPr>
          <a:xfrm>
            <a:off x="5577840" y="4892040"/>
            <a:ext cx="2377440" cy="621792"/>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577840" y="4892040"/>
            <a:ext cx="237744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leaf 0413</a:t>
            </a:r>
          </a:p>
        </p:txBody>
      </p:sp>
      <p:sp>
        <p:nvSpPr>
          <p:cNvPr id="12" name="TextBox 11"/>
          <p:cNvSpPr txBox="1"/>
          <p:nvPr/>
        </p:nvSpPr>
        <p:spPr>
          <a:xfrm>
            <a:off x="5687568" y="5239512"/>
            <a:ext cx="2194560" cy="237744"/>
          </a:xfrm>
          <a:prstGeom prst="rect">
            <a:avLst/>
          </a:prstGeom>
          <a:noFill/>
        </p:spPr>
        <p:txBody>
          <a:bodyPr wrap="square">
            <a:spAutoFit/>
          </a:bodyPr>
          <a:lstStyle/>
          <a:p>
            <a:pPr algn="l"/>
            <a:r>
              <a:rPr sz="1000" b="0" i="0">
                <a:solidFill>
                  <a:srgbClr val="1B2A41"/>
                </a:solidFill>
                <a:latin typeface="Menlo"/>
              </a:rPr>
              <a:t>09fe…7731</a:t>
            </a:r>
          </a:p>
        </p:txBody>
      </p:sp>
      <p:sp>
        <p:nvSpPr>
          <p:cNvPr id="13" name="TextBox 12"/>
          <p:cNvSpPr txBox="1"/>
          <p:nvPr/>
        </p:nvSpPr>
        <p:spPr>
          <a:xfrm>
            <a:off x="8092440" y="5029200"/>
            <a:ext cx="1280160" cy="457200"/>
          </a:xfrm>
          <a:prstGeom prst="rect">
            <a:avLst/>
          </a:prstGeom>
          <a:noFill/>
        </p:spPr>
        <p:txBody>
          <a:bodyPr wrap="square">
            <a:spAutoFit/>
          </a:bodyPr>
          <a:lstStyle/>
          <a:p>
            <a:pPr algn="l"/>
            <a:r>
              <a:rPr sz="1200" b="0" i="0">
                <a:solidFill>
                  <a:srgbClr val="6B7480"/>
                </a:solidFill>
                <a:latin typeface="Menlo"/>
              </a:rPr>
              <a:t>… ×517</a:t>
            </a:r>
          </a:p>
        </p:txBody>
      </p:sp>
      <p:sp>
        <p:nvSpPr>
          <p:cNvPr id="14" name="Rounded Rectangle 13"/>
          <p:cNvSpPr/>
          <p:nvPr/>
        </p:nvSpPr>
        <p:spPr>
          <a:xfrm>
            <a:off x="1737360" y="3657600"/>
            <a:ext cx="2377440" cy="859536"/>
          </a:xfrm>
          <a:prstGeom prst="roundRect">
            <a:avLst/>
          </a:prstGeom>
          <a:solidFill>
            <a:srgbClr val="E7EEF2"/>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1737360" y="3657600"/>
            <a:ext cx="237744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node</a:t>
            </a:r>
          </a:p>
        </p:txBody>
      </p:sp>
      <p:sp>
        <p:nvSpPr>
          <p:cNvPr id="16" name="TextBox 15"/>
          <p:cNvSpPr txBox="1"/>
          <p:nvPr/>
        </p:nvSpPr>
        <p:spPr>
          <a:xfrm>
            <a:off x="1847088" y="4005072"/>
            <a:ext cx="2194560" cy="237744"/>
          </a:xfrm>
          <a:prstGeom prst="rect">
            <a:avLst/>
          </a:prstGeom>
          <a:noFill/>
        </p:spPr>
        <p:txBody>
          <a:bodyPr wrap="square">
            <a:spAutoFit/>
          </a:bodyPr>
          <a:lstStyle/>
          <a:p>
            <a:pPr algn="l"/>
            <a:r>
              <a:rPr sz="1000" b="0" i="0">
                <a:solidFill>
                  <a:srgbClr val="1B2A41"/>
                </a:solidFill>
                <a:latin typeface="Menlo"/>
              </a:rPr>
              <a:t>h(5d81…|b44a…)</a:t>
            </a:r>
          </a:p>
        </p:txBody>
      </p:sp>
      <p:sp>
        <p:nvSpPr>
          <p:cNvPr id="17" name="TextBox 16"/>
          <p:cNvSpPr txBox="1"/>
          <p:nvPr/>
        </p:nvSpPr>
        <p:spPr>
          <a:xfrm>
            <a:off x="1847088" y="4242816"/>
            <a:ext cx="2194560" cy="237744"/>
          </a:xfrm>
          <a:prstGeom prst="rect">
            <a:avLst/>
          </a:prstGeom>
          <a:noFill/>
        </p:spPr>
        <p:txBody>
          <a:bodyPr wrap="square">
            <a:spAutoFit/>
          </a:bodyPr>
          <a:lstStyle/>
          <a:p>
            <a:pPr algn="l"/>
            <a:r>
              <a:rPr sz="1000" b="0" i="0">
                <a:solidFill>
                  <a:srgbClr val="1B2A41"/>
                </a:solidFill>
                <a:latin typeface="Menlo"/>
              </a:rPr>
              <a:t>= e3c7…20aa</a:t>
            </a:r>
          </a:p>
        </p:txBody>
      </p:sp>
      <p:sp>
        <p:nvSpPr>
          <p:cNvPr id="18" name="Rounded Rectangle 17"/>
          <p:cNvSpPr/>
          <p:nvPr/>
        </p:nvSpPr>
        <p:spPr>
          <a:xfrm>
            <a:off x="4937760" y="3657600"/>
            <a:ext cx="2377440" cy="859536"/>
          </a:xfrm>
          <a:prstGeom prst="roundRect">
            <a:avLst/>
          </a:prstGeom>
          <a:solidFill>
            <a:srgbClr val="E7EEF2"/>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937760" y="3657600"/>
            <a:ext cx="237744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node</a:t>
            </a:r>
          </a:p>
        </p:txBody>
      </p:sp>
      <p:sp>
        <p:nvSpPr>
          <p:cNvPr id="20" name="TextBox 19"/>
          <p:cNvSpPr txBox="1"/>
          <p:nvPr/>
        </p:nvSpPr>
        <p:spPr>
          <a:xfrm>
            <a:off x="5047488" y="4005072"/>
            <a:ext cx="2194560" cy="237744"/>
          </a:xfrm>
          <a:prstGeom prst="rect">
            <a:avLst/>
          </a:prstGeom>
          <a:noFill/>
        </p:spPr>
        <p:txBody>
          <a:bodyPr wrap="square">
            <a:spAutoFit/>
          </a:bodyPr>
          <a:lstStyle/>
          <a:p>
            <a:pPr algn="l"/>
            <a:r>
              <a:rPr sz="1000" b="0" i="0">
                <a:solidFill>
                  <a:srgbClr val="1B2A41"/>
                </a:solidFill>
                <a:latin typeface="Menlo"/>
              </a:rPr>
              <a:t>h(09fe…|…)</a:t>
            </a:r>
          </a:p>
        </p:txBody>
      </p:sp>
      <p:sp>
        <p:nvSpPr>
          <p:cNvPr id="21" name="TextBox 20"/>
          <p:cNvSpPr txBox="1"/>
          <p:nvPr/>
        </p:nvSpPr>
        <p:spPr>
          <a:xfrm>
            <a:off x="5047488" y="4242816"/>
            <a:ext cx="2194560" cy="237744"/>
          </a:xfrm>
          <a:prstGeom prst="rect">
            <a:avLst/>
          </a:prstGeom>
          <a:noFill/>
        </p:spPr>
        <p:txBody>
          <a:bodyPr wrap="square">
            <a:spAutoFit/>
          </a:bodyPr>
          <a:lstStyle/>
          <a:p>
            <a:pPr algn="l"/>
            <a:r>
              <a:rPr sz="1000" b="0" i="0">
                <a:solidFill>
                  <a:srgbClr val="1B2A41"/>
                </a:solidFill>
                <a:latin typeface="Menlo"/>
              </a:rPr>
              <a:t>= 91d5…b3fe</a:t>
            </a:r>
          </a:p>
        </p:txBody>
      </p:sp>
      <p:sp>
        <p:nvSpPr>
          <p:cNvPr id="22" name="Rounded Rectangle 21"/>
          <p:cNvSpPr/>
          <p:nvPr/>
        </p:nvSpPr>
        <p:spPr>
          <a:xfrm>
            <a:off x="3291840" y="2331720"/>
            <a:ext cx="2651760" cy="621792"/>
          </a:xfrm>
          <a:prstGeom prst="roundRect">
            <a:avLst/>
          </a:prstGeom>
          <a:solidFill>
            <a:srgbClr val="E7EEF2"/>
          </a:solidFill>
          <a:ln w="15875">
            <a:solidFill>
              <a:srgbClr val="0E7C7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291840" y="2331720"/>
            <a:ext cx="2651760" cy="310896"/>
          </a:xfrm>
          <a:prstGeom prst="roundRect">
            <a:avLst/>
          </a:prstGeom>
          <a:solidFill>
            <a:srgbClr val="1B2A41"/>
          </a:solidFill>
          <a:ln w="15875">
            <a:solidFill>
              <a:srgbClr val="0E7C7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ROOT (day)</a:t>
            </a:r>
          </a:p>
        </p:txBody>
      </p:sp>
      <p:sp>
        <p:nvSpPr>
          <p:cNvPr id="24" name="TextBox 23"/>
          <p:cNvSpPr txBox="1"/>
          <p:nvPr/>
        </p:nvSpPr>
        <p:spPr>
          <a:xfrm>
            <a:off x="3401568" y="2679191"/>
            <a:ext cx="2468879" cy="237744"/>
          </a:xfrm>
          <a:prstGeom prst="rect">
            <a:avLst/>
          </a:prstGeom>
          <a:noFill/>
        </p:spPr>
        <p:txBody>
          <a:bodyPr wrap="square">
            <a:spAutoFit/>
          </a:bodyPr>
          <a:lstStyle/>
          <a:p>
            <a:pPr algn="l"/>
            <a:r>
              <a:rPr sz="1100" b="0" i="0">
                <a:solidFill>
                  <a:srgbClr val="0E7C7B"/>
                </a:solidFill>
                <a:latin typeface="Menlo"/>
              </a:rPr>
              <a:t>6a3f…d208</a:t>
            </a:r>
          </a:p>
        </p:txBody>
      </p:sp>
      <p:cxnSp>
        <p:nvCxnSpPr>
          <p:cNvPr id="25" name="Connector 24"/>
          <p:cNvCxnSpPr/>
          <p:nvPr/>
        </p:nvCxnSpPr>
        <p:spPr>
          <a:xfrm flipV="1">
            <a:off x="1645920" y="4480560"/>
            <a:ext cx="822960" cy="411480"/>
          </a:xfrm>
          <a:prstGeom prst="line">
            <a:avLst/>
          </a:prstGeom>
          <a:ln w="25400">
            <a:solidFill>
              <a:srgbClr val="1B2A41"/>
            </a:solidFill>
            <a:tailEnd type="arrow"/>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3383280" y="4480560"/>
            <a:ext cx="822960" cy="411480"/>
          </a:xfrm>
          <a:prstGeom prst="line">
            <a:avLst/>
          </a:prstGeom>
          <a:ln w="25400">
            <a:solidFill>
              <a:srgbClr val="1B2A41"/>
            </a:solidFill>
            <a:tailEnd type="arrow"/>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6126480" y="4480560"/>
            <a:ext cx="640080" cy="411480"/>
          </a:xfrm>
          <a:prstGeom prst="line">
            <a:avLst/>
          </a:prstGeom>
          <a:ln w="25400">
            <a:solidFill>
              <a:srgbClr val="1B2A41"/>
            </a:solidFill>
            <a:tailEnd type="arrow"/>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926080" y="3108960"/>
            <a:ext cx="1188720" cy="548640"/>
          </a:xfrm>
          <a:prstGeom prst="line">
            <a:avLst/>
          </a:prstGeom>
          <a:ln w="25400">
            <a:solidFill>
              <a:srgbClr val="1B2A41"/>
            </a:solidFill>
            <a:tailEnd type="arrow"/>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5029200" y="3108960"/>
            <a:ext cx="1097280" cy="548640"/>
          </a:xfrm>
          <a:prstGeom prst="line">
            <a:avLst/>
          </a:prstGeom>
          <a:ln w="25400">
            <a:solidFill>
              <a:srgbClr val="1B2A41"/>
            </a:solidFill>
            <a:tailEnd type="arrow"/>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949440" y="1554480"/>
            <a:ext cx="4754880" cy="1335024"/>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6949440" y="1554480"/>
            <a:ext cx="475488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SEAL  S-2025-05-23  (published T+0)</a:t>
            </a:r>
          </a:p>
        </p:txBody>
      </p:sp>
      <p:sp>
        <p:nvSpPr>
          <p:cNvPr id="32" name="TextBox 31"/>
          <p:cNvSpPr txBox="1"/>
          <p:nvPr/>
        </p:nvSpPr>
        <p:spPr>
          <a:xfrm>
            <a:off x="7059168" y="1901952"/>
            <a:ext cx="4572000" cy="237744"/>
          </a:xfrm>
          <a:prstGeom prst="rect">
            <a:avLst/>
          </a:prstGeom>
          <a:noFill/>
        </p:spPr>
        <p:txBody>
          <a:bodyPr wrap="square">
            <a:spAutoFit/>
          </a:bodyPr>
          <a:lstStyle/>
          <a:p>
            <a:pPr algn="l"/>
            <a:r>
              <a:rPr sz="1050" b="0" i="0">
                <a:solidFill>
                  <a:srgbClr val="0E7C7B"/>
                </a:solidFill>
                <a:latin typeface="Menlo"/>
              </a:rPr>
              <a:t>root      : 6a3f…d208   ◄ the tree root</a:t>
            </a:r>
          </a:p>
        </p:txBody>
      </p:sp>
      <p:sp>
        <p:nvSpPr>
          <p:cNvPr id="33" name="TextBox 32"/>
          <p:cNvSpPr txBox="1"/>
          <p:nvPr/>
        </p:nvSpPr>
        <p:spPr>
          <a:xfrm>
            <a:off x="7059168" y="2139696"/>
            <a:ext cx="4572000" cy="237744"/>
          </a:xfrm>
          <a:prstGeom prst="rect">
            <a:avLst/>
          </a:prstGeom>
          <a:noFill/>
        </p:spPr>
        <p:txBody>
          <a:bodyPr wrap="square">
            <a:spAutoFit/>
          </a:bodyPr>
          <a:lstStyle/>
          <a:p>
            <a:pPr algn="l"/>
            <a:r>
              <a:rPr sz="1050" b="0" i="0">
                <a:solidFill>
                  <a:srgbClr val="1B2A41"/>
                </a:solidFill>
                <a:latin typeface="Menlo"/>
              </a:rPr>
              <a:t>signed_by : hsm-seal-01 (key never leaves HW)</a:t>
            </a:r>
          </a:p>
        </p:txBody>
      </p:sp>
      <p:sp>
        <p:nvSpPr>
          <p:cNvPr id="34" name="TextBox 33"/>
          <p:cNvSpPr txBox="1"/>
          <p:nvPr/>
        </p:nvSpPr>
        <p:spPr>
          <a:xfrm>
            <a:off x="7059168" y="2377439"/>
            <a:ext cx="4572000" cy="237744"/>
          </a:xfrm>
          <a:prstGeom prst="rect">
            <a:avLst/>
          </a:prstGeom>
          <a:noFill/>
        </p:spPr>
        <p:txBody>
          <a:bodyPr wrap="square">
            <a:spAutoFit/>
          </a:bodyPr>
          <a:lstStyle/>
          <a:p>
            <a:pPr algn="l"/>
            <a:r>
              <a:rPr sz="1050" b="0" i="0">
                <a:solidFill>
                  <a:srgbClr val="1B2A41"/>
                </a:solidFill>
                <a:latin typeface="Menlo"/>
              </a:rPr>
              <a:t>sig       : ed25519:74bb…0e91</a:t>
            </a:r>
          </a:p>
        </p:txBody>
      </p:sp>
      <p:sp>
        <p:nvSpPr>
          <p:cNvPr id="35" name="TextBox 34"/>
          <p:cNvSpPr txBox="1"/>
          <p:nvPr/>
        </p:nvSpPr>
        <p:spPr>
          <a:xfrm>
            <a:off x="7059168" y="2615183"/>
            <a:ext cx="4572000" cy="237744"/>
          </a:xfrm>
          <a:prstGeom prst="rect">
            <a:avLst/>
          </a:prstGeom>
          <a:noFill/>
        </p:spPr>
        <p:txBody>
          <a:bodyPr wrap="square">
            <a:spAutoFit/>
          </a:bodyPr>
          <a:lstStyle/>
          <a:p>
            <a:pPr algn="l"/>
            <a:r>
              <a:rPr sz="1050" b="0" i="0">
                <a:solidFill>
                  <a:srgbClr val="1B2A41"/>
                </a:solidFill>
                <a:latin typeface="Menlo"/>
              </a:rPr>
              <a:t>published : external log, 2025-05-23</a:t>
            </a:r>
          </a:p>
        </p:txBody>
      </p:sp>
      <p:cxnSp>
        <p:nvCxnSpPr>
          <p:cNvPr id="36" name="Connector 35"/>
          <p:cNvCxnSpPr/>
          <p:nvPr/>
        </p:nvCxnSpPr>
        <p:spPr>
          <a:xfrm flipV="1">
            <a:off x="5943600" y="2468880"/>
            <a:ext cx="1005840" cy="228600"/>
          </a:xfrm>
          <a:prstGeom prst="line">
            <a:avLst/>
          </a:prstGeom>
          <a:ln w="28575">
            <a:solidFill>
              <a:srgbClr val="0E7C7B"/>
            </a:solidFill>
            <a:tailEnd type="arrow"/>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949440" y="3429000"/>
            <a:ext cx="4846320" cy="1463040"/>
          </a:xfrm>
          <a:prstGeom prst="rect">
            <a:avLst/>
          </a:prstGeom>
          <a:noFill/>
        </p:spPr>
        <p:txBody>
          <a:bodyPr wrap="square">
            <a:spAutoFit/>
          </a:bodyPr>
          <a:lstStyle/>
          <a:p>
            <a:pPr algn="l"/>
            <a:r>
              <a:rPr sz="1300" b="0" i="1">
                <a:solidFill>
                  <a:srgbClr val="1B2A41"/>
                </a:solidFill>
                <a:latin typeface="Avenir Next"/>
              </a:rPr>
              <a:t>The signed, published root is the daily</a:t>
            </a:r>
          </a:p>
          <a:p>
            <a:pPr algn="l"/>
            <a:r>
              <a:rPr sz="1300" b="0" i="1">
                <a:solidFill>
                  <a:srgbClr val="1B2A41"/>
                </a:solidFill>
                <a:latin typeface="Avenir Next"/>
              </a:rPr>
              <a:t>seal — a one-way door closing behind</a:t>
            </a:r>
          </a:p>
          <a:p>
            <a:pPr algn="l"/>
            <a:r>
              <a:rPr sz="1300" b="0" i="1">
                <a:solidFill>
                  <a:srgbClr val="1B2A41"/>
                </a:solidFill>
                <a:latin typeface="Avenir Next"/>
              </a:rPr>
              <a:t>the day's evidence, held where the</a:t>
            </a:r>
          </a:p>
          <a:p>
            <a:pPr algn="l"/>
            <a:r>
              <a:rPr sz="1300" b="0" i="1">
                <a:solidFill>
                  <a:srgbClr val="1B2A41"/>
                </a:solidFill>
                <a:latin typeface="Avenir Next"/>
              </a:rPr>
              <a:t>institution's accounts can't reach.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The key registry manifest</a:t>
            </a:r>
          </a:p>
        </p:txBody>
      </p:sp>
      <p:sp>
        <p:nvSpPr>
          <p:cNvPr id="3" name="TextBox 2"/>
          <p:cNvSpPr txBox="1"/>
          <p:nvPr/>
        </p:nvSpPr>
        <p:spPr>
          <a:xfrm>
            <a:off x="548640" y="868680"/>
            <a:ext cx="11064240" cy="457200"/>
          </a:xfrm>
          <a:prstGeom prst="rect">
            <a:avLst/>
          </a:prstGeom>
          <a:noFill/>
        </p:spPr>
        <p:txBody>
          <a:bodyPr wrap="square">
            <a:spAutoFit/>
          </a:bodyPr>
          <a:lstStyle/>
          <a:p>
            <a:pPr algn="l"/>
            <a:r>
              <a:rPr sz="1400" b="0" i="1">
                <a:solidFill>
                  <a:srgbClr val="6B7480"/>
                </a:solidFill>
                <a:latin typeface="Avenir Next"/>
              </a:rPr>
              <a:t>Who vouches for the keys? A registry, itself HSM-signed, independently checkable</a:t>
            </a:r>
          </a:p>
        </p:txBody>
      </p:sp>
      <p:sp>
        <p:nvSpPr>
          <p:cNvPr id="4" name="Rounded Rectangle 3"/>
          <p:cNvSpPr/>
          <p:nvPr/>
        </p:nvSpPr>
        <p:spPr>
          <a:xfrm>
            <a:off x="548640" y="1600200"/>
            <a:ext cx="5669280" cy="2286000"/>
          </a:xfrm>
          <a:prstGeom prst="roundRect">
            <a:avLst/>
          </a:prstGeom>
          <a:solidFill>
            <a:srgbClr val="FAF7F0"/>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48640" y="1600200"/>
            <a:ext cx="5669280" cy="310896"/>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AF7F0"/>
                </a:solidFill>
                <a:latin typeface="Menlo"/>
              </a:rPr>
              <a:t>KEY REGISTRY MANIFEST  (HSM-signed)</a:t>
            </a:r>
          </a:p>
        </p:txBody>
      </p:sp>
      <p:sp>
        <p:nvSpPr>
          <p:cNvPr id="6" name="TextBox 5"/>
          <p:cNvSpPr txBox="1"/>
          <p:nvPr/>
        </p:nvSpPr>
        <p:spPr>
          <a:xfrm>
            <a:off x="658368" y="1947672"/>
            <a:ext cx="5486400" cy="237744"/>
          </a:xfrm>
          <a:prstGeom prst="rect">
            <a:avLst/>
          </a:prstGeom>
          <a:noFill/>
        </p:spPr>
        <p:txBody>
          <a:bodyPr wrap="square">
            <a:spAutoFit/>
          </a:bodyPr>
          <a:lstStyle/>
          <a:p>
            <a:pPr algn="l"/>
            <a:r>
              <a:rPr sz="1050" b="0" i="0">
                <a:solidFill>
                  <a:srgbClr val="1B2A41"/>
                </a:solidFill>
                <a:latin typeface="Menlo"/>
              </a:rPr>
              <a:t>manifest_root : m-88c2…511a</a:t>
            </a:r>
          </a:p>
        </p:txBody>
      </p:sp>
      <p:sp>
        <p:nvSpPr>
          <p:cNvPr id="7" name="TextBox 6"/>
          <p:cNvSpPr txBox="1"/>
          <p:nvPr/>
        </p:nvSpPr>
        <p:spPr>
          <a:xfrm>
            <a:off x="658368" y="2185415"/>
            <a:ext cx="5486400" cy="237744"/>
          </a:xfrm>
          <a:prstGeom prst="rect">
            <a:avLst/>
          </a:prstGeom>
          <a:noFill/>
        </p:spPr>
        <p:txBody>
          <a:bodyPr wrap="square">
            <a:spAutoFit/>
          </a:bodyPr>
          <a:lstStyle/>
          <a:p>
            <a:pPr algn="l"/>
            <a:r>
              <a:rPr sz="1050" b="0" i="0">
                <a:solidFill>
                  <a:srgbClr val="1B2A41"/>
                </a:solidFill>
                <a:latin typeface="Menlo"/>
              </a:rPr>
              <a:t>signed_by     : hsm-registry-root</a:t>
            </a:r>
          </a:p>
        </p:txBody>
      </p:sp>
      <p:sp>
        <p:nvSpPr>
          <p:cNvPr id="8" name="TextBox 7"/>
          <p:cNvSpPr txBox="1"/>
          <p:nvPr/>
        </p:nvSpPr>
        <p:spPr>
          <a:xfrm>
            <a:off x="658368" y="2423159"/>
            <a:ext cx="5486400" cy="237744"/>
          </a:xfrm>
          <a:prstGeom prst="rect">
            <a:avLst/>
          </a:prstGeom>
          <a:noFill/>
        </p:spPr>
        <p:txBody>
          <a:bodyPr wrap="square">
            <a:spAutoFit/>
          </a:bodyPr>
          <a:lstStyle/>
          <a:p>
            <a:pPr algn="l"/>
            <a:r>
              <a:rPr sz="1050" b="0" i="0">
                <a:solidFill>
                  <a:srgbClr val="1B2A41"/>
                </a:solidFill>
                <a:latin typeface="Menlo"/>
              </a:rPr>
              <a:t>sig           : ed25519:2f90…c6d3</a:t>
            </a:r>
          </a:p>
        </p:txBody>
      </p:sp>
      <p:sp>
        <p:nvSpPr>
          <p:cNvPr id="9" name="TextBox 8"/>
          <p:cNvSpPr txBox="1"/>
          <p:nvPr/>
        </p:nvSpPr>
        <p:spPr>
          <a:xfrm>
            <a:off x="658368" y="2660903"/>
            <a:ext cx="5486400" cy="237744"/>
          </a:xfrm>
          <a:prstGeom prst="rect">
            <a:avLst/>
          </a:prstGeom>
          <a:noFill/>
        </p:spPr>
        <p:txBody>
          <a:bodyPr wrap="square">
            <a:spAutoFit/>
          </a:bodyPr>
          <a:lstStyle/>
          <a:p>
            <a:pPr algn="l"/>
            <a:r>
              <a:rPr sz="1050" b="0" i="0">
                <a:solidFill>
                  <a:srgbClr val="1B2A41"/>
                </a:solidFill>
                <a:latin typeface="Menlo"/>
              </a:rPr>
              <a:t>──────────────────────────────────</a:t>
            </a:r>
          </a:p>
        </p:txBody>
      </p:sp>
      <p:sp>
        <p:nvSpPr>
          <p:cNvPr id="10" name="TextBox 9"/>
          <p:cNvSpPr txBox="1"/>
          <p:nvPr/>
        </p:nvSpPr>
        <p:spPr>
          <a:xfrm>
            <a:off x="658368" y="2898647"/>
            <a:ext cx="5486400" cy="237744"/>
          </a:xfrm>
          <a:prstGeom prst="rect">
            <a:avLst/>
          </a:prstGeom>
          <a:noFill/>
        </p:spPr>
        <p:txBody>
          <a:bodyPr wrap="square">
            <a:spAutoFit/>
          </a:bodyPr>
          <a:lstStyle/>
          <a:p>
            <a:pPr algn="l"/>
            <a:r>
              <a:rPr sz="1050" b="0" i="0">
                <a:solidFill>
                  <a:srgbClr val="C99A2E"/>
                </a:solidFill>
                <a:latin typeface="Menlo"/>
              </a:rPr>
              <a:t>ikm-2025-Q2-07 : valid 2025-04-01 → 2025-06-30</a:t>
            </a:r>
          </a:p>
        </p:txBody>
      </p:sp>
      <p:sp>
        <p:nvSpPr>
          <p:cNvPr id="11" name="TextBox 10"/>
          <p:cNvSpPr txBox="1"/>
          <p:nvPr/>
        </p:nvSpPr>
        <p:spPr>
          <a:xfrm>
            <a:off x="658368" y="3136391"/>
            <a:ext cx="5486400" cy="237744"/>
          </a:xfrm>
          <a:prstGeom prst="rect">
            <a:avLst/>
          </a:prstGeom>
          <a:noFill/>
        </p:spPr>
        <p:txBody>
          <a:bodyPr wrap="square">
            <a:spAutoFit/>
          </a:bodyPr>
          <a:lstStyle/>
          <a:p>
            <a:pPr algn="l"/>
            <a:r>
              <a:rPr sz="1050" b="0" i="0">
                <a:solidFill>
                  <a:srgbClr val="0E7C7B"/>
                </a:solidFill>
                <a:latin typeface="Menlo"/>
              </a:rPr>
              <a:t>hsm-seal-01    : valid 2024-11-15 → present</a:t>
            </a:r>
          </a:p>
        </p:txBody>
      </p:sp>
      <p:sp>
        <p:nvSpPr>
          <p:cNvPr id="12" name="TextBox 11"/>
          <p:cNvSpPr txBox="1"/>
          <p:nvPr/>
        </p:nvSpPr>
        <p:spPr>
          <a:xfrm>
            <a:off x="658368" y="3374135"/>
            <a:ext cx="5486400" cy="237744"/>
          </a:xfrm>
          <a:prstGeom prst="rect">
            <a:avLst/>
          </a:prstGeom>
          <a:noFill/>
        </p:spPr>
        <p:txBody>
          <a:bodyPr wrap="square">
            <a:spAutoFit/>
          </a:bodyPr>
          <a:lstStyle/>
          <a:p>
            <a:pPr algn="l"/>
            <a:r>
              <a:rPr sz="1050" b="0" i="0">
                <a:solidFill>
                  <a:srgbClr val="1B2A41"/>
                </a:solidFill>
                <a:latin typeface="Menlo"/>
              </a:rPr>
              <a:t>  fingerprint  : f7:2a:…:9c</a:t>
            </a:r>
          </a:p>
        </p:txBody>
      </p:sp>
      <p:sp>
        <p:nvSpPr>
          <p:cNvPr id="13" name="TextBox 12"/>
          <p:cNvSpPr txBox="1"/>
          <p:nvPr/>
        </p:nvSpPr>
        <p:spPr>
          <a:xfrm>
            <a:off x="658368" y="3611879"/>
            <a:ext cx="5486400" cy="237744"/>
          </a:xfrm>
          <a:prstGeom prst="rect">
            <a:avLst/>
          </a:prstGeom>
          <a:noFill/>
        </p:spPr>
        <p:txBody>
          <a:bodyPr wrap="square">
            <a:spAutoFit/>
          </a:bodyPr>
          <a:lstStyle/>
          <a:p>
            <a:pPr algn="l"/>
            <a:r>
              <a:rPr sz="1050" b="0" i="0">
                <a:solidFill>
                  <a:srgbClr val="B32D2D"/>
                </a:solidFill>
                <a:latin typeface="Menlo"/>
              </a:rPr>
              <a:t>roles          : registry-root ≠ seal-requester</a:t>
            </a:r>
          </a:p>
        </p:txBody>
      </p:sp>
      <p:sp>
        <p:nvSpPr>
          <p:cNvPr id="14" name="TextBox 13"/>
          <p:cNvSpPr txBox="1"/>
          <p:nvPr/>
        </p:nvSpPr>
        <p:spPr>
          <a:xfrm>
            <a:off x="6583680" y="1737360"/>
            <a:ext cx="5120640" cy="3474720"/>
          </a:xfrm>
          <a:prstGeom prst="rect">
            <a:avLst/>
          </a:prstGeom>
          <a:noFill/>
        </p:spPr>
        <p:txBody>
          <a:bodyPr wrap="square">
            <a:spAutoFit/>
          </a:bodyPr>
          <a:lstStyle/>
          <a:p>
            <a:pPr algn="l"/>
            <a:r>
              <a:rPr sz="1350" b="0" i="0">
                <a:solidFill>
                  <a:srgbClr val="1B2A41"/>
                </a:solidFill>
                <a:latin typeface="Avenir Next"/>
              </a:rPr>
              <a:t>Entry keys (ikm-*) and the seal signer</a:t>
            </a:r>
          </a:p>
          <a:p>
            <a:pPr algn="l"/>
            <a:r>
              <a:rPr sz="1350" b="0" i="0">
                <a:solidFill>
                  <a:srgbClr val="1B2A41"/>
                </a:solidFill>
                <a:latin typeface="Avenir Next"/>
              </a:rPr>
              <a:t>(hsm-seal-01) are vouched WITH validity</a:t>
            </a:r>
          </a:p>
          <a:p>
            <a:pPr algn="l"/>
            <a:r>
              <a:rPr sz="1350" b="0" i="0">
                <a:solidFill>
                  <a:srgbClr val="1B2A41"/>
                </a:solidFill>
                <a:latin typeface="Avenir Next"/>
              </a:rPr>
              <a:t>windows — a signature only counts if its key</a:t>
            </a:r>
          </a:p>
          <a:p>
            <a:pPr algn="l"/>
            <a:r>
              <a:rPr sz="1350" b="0" i="0">
                <a:solidFill>
                  <a:srgbClr val="1B2A41"/>
                </a:solidFill>
                <a:latin typeface="Avenir Next"/>
              </a:rPr>
              <a:t>was valid on the date it claims.</a:t>
            </a:r>
          </a:p>
          <a:p>
            <a:pPr algn="l"/>
          </a:p>
          <a:p>
            <a:pPr algn="l"/>
            <a:r>
              <a:rPr sz="1350" b="0" i="0">
                <a:solidFill>
                  <a:srgbClr val="1B2A41"/>
                </a:solidFill>
                <a:latin typeface="Avenir Next"/>
              </a:rPr>
              <a:t>An examiner reconciles the fingerprint</a:t>
            </a:r>
          </a:p>
          <a:p>
            <a:pPr algn="l"/>
            <a:r>
              <a:rPr sz="1350" b="0" i="0">
                <a:solidFill>
                  <a:srgbClr val="1B2A41"/>
                </a:solidFill>
                <a:latin typeface="Avenir Next"/>
              </a:rPr>
              <a:t>against a published root with their own</a:t>
            </a:r>
          </a:p>
          <a:p>
            <a:pPr algn="l"/>
            <a:r>
              <a:rPr sz="1350" b="0" i="0">
                <a:solidFill>
                  <a:srgbClr val="1B2A41"/>
                </a:solidFill>
                <a:latin typeface="Avenir Next"/>
              </a:rPr>
              <a:t>tooling — no bank software in the loop.</a:t>
            </a:r>
          </a:p>
          <a:p>
            <a:pPr algn="l"/>
          </a:p>
          <a:p>
            <a:pPr algn="l"/>
            <a:r>
              <a:rPr sz="1350" b="0" i="0">
                <a:solidFill>
                  <a:srgbClr val="1B2A41"/>
                </a:solidFill>
                <a:latin typeface="Avenir Next"/>
              </a:rPr>
              <a:t>The role holding the registry root cannot</a:t>
            </a:r>
          </a:p>
          <a:p>
            <a:pPr algn="l"/>
            <a:r>
              <a:rPr sz="1350" b="0" i="0">
                <a:solidFill>
                  <a:srgbClr val="1B2A41"/>
                </a:solidFill>
                <a:latin typeface="Avenir Next"/>
              </a:rPr>
              <a:t>request seals and cannot extract keys —</a:t>
            </a:r>
          </a:p>
          <a:p>
            <a:pPr algn="l"/>
            <a:r>
              <a:rPr sz="1350" b="0" i="0">
                <a:solidFill>
                  <a:srgbClr val="1B2A41"/>
                </a:solidFill>
                <a:latin typeface="Avenir Next"/>
              </a:rPr>
              <a:t>separation enforced by hardware custody.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Walk it — what altering one old artifact costs</a:t>
            </a:r>
          </a:p>
        </p:txBody>
      </p:sp>
      <p:sp>
        <p:nvSpPr>
          <p:cNvPr id="3" name="TextBox 2"/>
          <p:cNvSpPr txBox="1"/>
          <p:nvPr/>
        </p:nvSpPr>
        <p:spPr>
          <a:xfrm>
            <a:off x="548640" y="868680"/>
            <a:ext cx="11064240" cy="457200"/>
          </a:xfrm>
          <a:prstGeom prst="rect">
            <a:avLst/>
          </a:prstGeom>
          <a:noFill/>
        </p:spPr>
        <p:txBody>
          <a:bodyPr wrap="square">
            <a:spAutoFit/>
          </a:bodyPr>
          <a:lstStyle/>
          <a:p>
            <a:pPr algn="l"/>
            <a:r>
              <a:rPr sz="1400" b="0" i="1">
                <a:solidFill>
                  <a:srgbClr val="6B7480"/>
                </a:solidFill>
                <a:latin typeface="Avenir Next"/>
              </a:rPr>
              <a:t>One digit in a loan balance from last spring ($214,309 → $214,809)</a:t>
            </a:r>
          </a:p>
        </p:txBody>
      </p:sp>
      <p:sp>
        <p:nvSpPr>
          <p:cNvPr id="4" name="Rounded Rectangle 3"/>
          <p:cNvSpPr/>
          <p:nvPr/>
        </p:nvSpPr>
        <p:spPr>
          <a:xfrm>
            <a:off x="731520" y="1508760"/>
            <a:ext cx="457200" cy="457200"/>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AF7F0"/>
                </a:solidFill>
              </a:rPr>
              <a:t>1</a:t>
            </a:r>
          </a:p>
        </p:txBody>
      </p:sp>
      <p:sp>
        <p:nvSpPr>
          <p:cNvPr id="5" name="TextBox 4"/>
          <p:cNvSpPr txBox="1"/>
          <p:nvPr/>
        </p:nvSpPr>
        <p:spPr>
          <a:xfrm>
            <a:off x="1371600" y="1463039"/>
            <a:ext cx="3291840" cy="548640"/>
          </a:xfrm>
          <a:prstGeom prst="rect">
            <a:avLst/>
          </a:prstGeom>
          <a:noFill/>
        </p:spPr>
        <p:txBody>
          <a:bodyPr wrap="square">
            <a:spAutoFit/>
          </a:bodyPr>
          <a:lstStyle/>
          <a:p>
            <a:pPr algn="l"/>
            <a:r>
              <a:rPr sz="1450" b="1" i="0">
                <a:solidFill>
                  <a:srgbClr val="1B2A41"/>
                </a:solidFill>
                <a:latin typeface="Avenir Next"/>
              </a:rPr>
              <a:t>Alter the artifact</a:t>
            </a:r>
          </a:p>
        </p:txBody>
      </p:sp>
      <p:sp>
        <p:nvSpPr>
          <p:cNvPr id="6" name="TextBox 5"/>
          <p:cNvSpPr txBox="1"/>
          <p:nvPr/>
        </p:nvSpPr>
        <p:spPr>
          <a:xfrm>
            <a:off x="4754880" y="1463039"/>
            <a:ext cx="7132320" cy="868680"/>
          </a:xfrm>
          <a:prstGeom prst="rect">
            <a:avLst/>
          </a:prstGeom>
          <a:noFill/>
        </p:spPr>
        <p:txBody>
          <a:bodyPr wrap="square">
            <a:spAutoFit/>
          </a:bodyPr>
          <a:lstStyle/>
          <a:p>
            <a:pPr algn="l"/>
            <a:r>
              <a:rPr sz="1200" b="0" i="0">
                <a:solidFill>
                  <a:srgbClr val="6B7480"/>
                </a:solidFill>
                <a:latin typeface="Menlo"/>
              </a:rPr>
              <a:t>sha256 changes → entry 0412's artifact_hash no longer matches; its mac stops recomputing</a:t>
            </a:r>
          </a:p>
        </p:txBody>
      </p:sp>
      <p:sp>
        <p:nvSpPr>
          <p:cNvPr id="7" name="Rounded Rectangle 6"/>
          <p:cNvSpPr/>
          <p:nvPr/>
        </p:nvSpPr>
        <p:spPr>
          <a:xfrm>
            <a:off x="731520" y="2377439"/>
            <a:ext cx="457200" cy="457200"/>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AF7F0"/>
                </a:solidFill>
              </a:rPr>
              <a:t>2</a:t>
            </a:r>
          </a:p>
        </p:txBody>
      </p:sp>
      <p:sp>
        <p:nvSpPr>
          <p:cNvPr id="8" name="TextBox 7"/>
          <p:cNvSpPr txBox="1"/>
          <p:nvPr/>
        </p:nvSpPr>
        <p:spPr>
          <a:xfrm>
            <a:off x="1371600" y="2331720"/>
            <a:ext cx="3291840" cy="548640"/>
          </a:xfrm>
          <a:prstGeom prst="rect">
            <a:avLst/>
          </a:prstGeom>
          <a:noFill/>
        </p:spPr>
        <p:txBody>
          <a:bodyPr wrap="square">
            <a:spAutoFit/>
          </a:bodyPr>
          <a:lstStyle/>
          <a:p>
            <a:pPr algn="l"/>
            <a:r>
              <a:rPr sz="1450" b="1" i="0">
                <a:solidFill>
                  <a:srgbClr val="1B2A41"/>
                </a:solidFill>
                <a:latin typeface="Avenir Next"/>
              </a:rPr>
              <a:t>Fix 0412's mac</a:t>
            </a:r>
          </a:p>
        </p:txBody>
      </p:sp>
      <p:sp>
        <p:nvSpPr>
          <p:cNvPr id="9" name="TextBox 8"/>
          <p:cNvSpPr txBox="1"/>
          <p:nvPr/>
        </p:nvSpPr>
        <p:spPr>
          <a:xfrm>
            <a:off x="4754880" y="2331720"/>
            <a:ext cx="7132320" cy="868680"/>
          </a:xfrm>
          <a:prstGeom prst="rect">
            <a:avLst/>
          </a:prstGeom>
          <a:noFill/>
        </p:spPr>
        <p:txBody>
          <a:bodyPr wrap="square">
            <a:spAutoFit/>
          </a:bodyPr>
          <a:lstStyle/>
          <a:p>
            <a:pPr algn="l"/>
            <a:r>
              <a:rPr sz="1200" b="0" i="0">
                <a:solidFill>
                  <a:srgbClr val="6B7480"/>
                </a:solidFill>
                <a:latin typeface="Menlo"/>
              </a:rPr>
              <a:t>entry 0413's prev_entry_mac (b44a…91c7) is now wrong — it pointed at the OLD mac</a:t>
            </a:r>
          </a:p>
        </p:txBody>
      </p:sp>
      <p:sp>
        <p:nvSpPr>
          <p:cNvPr id="10" name="Rounded Rectangle 9"/>
          <p:cNvSpPr/>
          <p:nvPr/>
        </p:nvSpPr>
        <p:spPr>
          <a:xfrm>
            <a:off x="731520" y="3246120"/>
            <a:ext cx="457200" cy="457200"/>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AF7F0"/>
                </a:solidFill>
              </a:rPr>
              <a:t>3</a:t>
            </a:r>
          </a:p>
        </p:txBody>
      </p:sp>
      <p:sp>
        <p:nvSpPr>
          <p:cNvPr id="11" name="TextBox 10"/>
          <p:cNvSpPr txBox="1"/>
          <p:nvPr/>
        </p:nvSpPr>
        <p:spPr>
          <a:xfrm>
            <a:off x="1371600" y="3200400"/>
            <a:ext cx="3291840" cy="548640"/>
          </a:xfrm>
          <a:prstGeom prst="rect">
            <a:avLst/>
          </a:prstGeom>
          <a:noFill/>
        </p:spPr>
        <p:txBody>
          <a:bodyPr wrap="square">
            <a:spAutoFit/>
          </a:bodyPr>
          <a:lstStyle/>
          <a:p>
            <a:pPr algn="l"/>
            <a:r>
              <a:rPr sz="1450" b="1" i="0">
                <a:solidFill>
                  <a:srgbClr val="1B2A41"/>
                </a:solidFill>
                <a:latin typeface="Avenir Next"/>
              </a:rPr>
              <a:t>Fix 0413, then 0414…</a:t>
            </a:r>
          </a:p>
        </p:txBody>
      </p:sp>
      <p:sp>
        <p:nvSpPr>
          <p:cNvPr id="12" name="TextBox 11"/>
          <p:cNvSpPr txBox="1"/>
          <p:nvPr/>
        </p:nvSpPr>
        <p:spPr>
          <a:xfrm>
            <a:off x="4754880" y="3200400"/>
            <a:ext cx="7132320" cy="868680"/>
          </a:xfrm>
          <a:prstGeom prst="rect">
            <a:avLst/>
          </a:prstGeom>
          <a:noFill/>
        </p:spPr>
        <p:txBody>
          <a:bodyPr wrap="square">
            <a:spAutoFit/>
          </a:bodyPr>
          <a:lstStyle/>
          <a:p>
            <a:pPr algn="l"/>
            <a:r>
              <a:rPr sz="1200" b="0" i="0">
                <a:solidFill>
                  <a:srgbClr val="6B7480"/>
                </a:solidFill>
                <a:latin typeface="Menlo"/>
              </a:rPr>
              <a:t>re-derive the ENTIRE tail from the point of change forward</a:t>
            </a:r>
          </a:p>
        </p:txBody>
      </p:sp>
      <p:sp>
        <p:nvSpPr>
          <p:cNvPr id="13" name="Rounded Rectangle 12"/>
          <p:cNvSpPr/>
          <p:nvPr/>
        </p:nvSpPr>
        <p:spPr>
          <a:xfrm>
            <a:off x="731520" y="4114800"/>
            <a:ext cx="457200" cy="457200"/>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AF7F0"/>
                </a:solidFill>
              </a:rPr>
              <a:t>4</a:t>
            </a:r>
          </a:p>
        </p:txBody>
      </p:sp>
      <p:sp>
        <p:nvSpPr>
          <p:cNvPr id="14" name="TextBox 13"/>
          <p:cNvSpPr txBox="1"/>
          <p:nvPr/>
        </p:nvSpPr>
        <p:spPr>
          <a:xfrm>
            <a:off x="1371600" y="4069080"/>
            <a:ext cx="3291840" cy="548640"/>
          </a:xfrm>
          <a:prstGeom prst="rect">
            <a:avLst/>
          </a:prstGeom>
          <a:noFill/>
        </p:spPr>
        <p:txBody>
          <a:bodyPr wrap="square">
            <a:spAutoFit/>
          </a:bodyPr>
          <a:lstStyle/>
          <a:p>
            <a:pPr algn="l"/>
            <a:r>
              <a:rPr sz="1450" b="1" i="0">
                <a:solidFill>
                  <a:srgbClr val="B32D2D"/>
                </a:solidFill>
                <a:latin typeface="Avenir Next"/>
              </a:rPr>
              <a:t>Day root differs</a:t>
            </a:r>
          </a:p>
        </p:txBody>
      </p:sp>
      <p:sp>
        <p:nvSpPr>
          <p:cNvPr id="15" name="TextBox 14"/>
          <p:cNvSpPr txBox="1"/>
          <p:nvPr/>
        </p:nvSpPr>
        <p:spPr>
          <a:xfrm>
            <a:off x="4754880" y="4069080"/>
            <a:ext cx="7132320" cy="868680"/>
          </a:xfrm>
          <a:prstGeom prst="rect">
            <a:avLst/>
          </a:prstGeom>
          <a:noFill/>
        </p:spPr>
        <p:txBody>
          <a:bodyPr wrap="square">
            <a:spAutoFit/>
          </a:bodyPr>
          <a:lstStyle/>
          <a:p>
            <a:pPr algn="l"/>
            <a:r>
              <a:rPr sz="1200" b="0" i="0">
                <a:solidFill>
                  <a:srgbClr val="6B7480"/>
                </a:solidFill>
                <a:latin typeface="Menlo"/>
              </a:rPr>
              <a:t>recomputed root ≠ 6a3f…d208 — but S-2025-05-23 was signed and PUBLISHED a year ago,</a:t>
            </a:r>
          </a:p>
          <a:p>
            <a:pPr algn="l"/>
            <a:r>
              <a:rPr sz="1200" b="0" i="0">
                <a:solidFill>
                  <a:srgbClr val="6B7480"/>
                </a:solidFill>
                <a:latin typeface="Menlo"/>
              </a:rPr>
              <a:t>in a place your account can't reach</a:t>
            </a:r>
          </a:p>
        </p:txBody>
      </p:sp>
      <p:sp>
        <p:nvSpPr>
          <p:cNvPr id="16" name="Rounded Rectangle 15"/>
          <p:cNvSpPr/>
          <p:nvPr/>
        </p:nvSpPr>
        <p:spPr>
          <a:xfrm>
            <a:off x="731520" y="4983480"/>
            <a:ext cx="457200" cy="457200"/>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AF7F0"/>
                </a:solidFill>
              </a:rPr>
              <a:t>5</a:t>
            </a:r>
          </a:p>
        </p:txBody>
      </p:sp>
      <p:sp>
        <p:nvSpPr>
          <p:cNvPr id="17" name="TextBox 16"/>
          <p:cNvSpPr txBox="1"/>
          <p:nvPr/>
        </p:nvSpPr>
        <p:spPr>
          <a:xfrm>
            <a:off x="1371600" y="4937760"/>
            <a:ext cx="3291840" cy="548640"/>
          </a:xfrm>
          <a:prstGeom prst="rect">
            <a:avLst/>
          </a:prstGeom>
          <a:noFill/>
        </p:spPr>
        <p:txBody>
          <a:bodyPr wrap="square">
            <a:spAutoFit/>
          </a:bodyPr>
          <a:lstStyle/>
          <a:p>
            <a:pPr algn="l"/>
            <a:r>
              <a:rPr sz="1450" b="1" i="0">
                <a:solidFill>
                  <a:srgbClr val="B32D2D"/>
                </a:solidFill>
                <a:latin typeface="Avenir Next"/>
              </a:rPr>
              <a:t>Forge the seal?</a:t>
            </a:r>
          </a:p>
        </p:txBody>
      </p:sp>
      <p:sp>
        <p:nvSpPr>
          <p:cNvPr id="18" name="TextBox 17"/>
          <p:cNvSpPr txBox="1"/>
          <p:nvPr/>
        </p:nvSpPr>
        <p:spPr>
          <a:xfrm>
            <a:off x="4754880" y="4937760"/>
            <a:ext cx="7132320" cy="868680"/>
          </a:xfrm>
          <a:prstGeom prst="rect">
            <a:avLst/>
          </a:prstGeom>
          <a:noFill/>
        </p:spPr>
        <p:txBody>
          <a:bodyPr wrap="square">
            <a:spAutoFit/>
          </a:bodyPr>
          <a:lstStyle/>
          <a:p>
            <a:pPr algn="l"/>
            <a:r>
              <a:rPr sz="1200" b="0" i="0">
                <a:solidFill>
                  <a:srgbClr val="6B7480"/>
                </a:solidFill>
                <a:latin typeface="Menlo"/>
              </a:rPr>
              <a:t>you need a signing key the manifest vouches for ON 2025-05-23 (hsm-seal-01's window)</a:t>
            </a:r>
          </a:p>
        </p:txBody>
      </p:sp>
      <p:sp>
        <p:nvSpPr>
          <p:cNvPr id="19" name="Rounded Rectangle 18"/>
          <p:cNvSpPr/>
          <p:nvPr/>
        </p:nvSpPr>
        <p:spPr>
          <a:xfrm>
            <a:off x="731520" y="5852160"/>
            <a:ext cx="457200" cy="457200"/>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AF7F0"/>
                </a:solidFill>
              </a:rPr>
              <a:t>6</a:t>
            </a:r>
          </a:p>
        </p:txBody>
      </p:sp>
      <p:sp>
        <p:nvSpPr>
          <p:cNvPr id="20" name="TextBox 19"/>
          <p:cNvSpPr txBox="1"/>
          <p:nvPr/>
        </p:nvSpPr>
        <p:spPr>
          <a:xfrm>
            <a:off x="1371600" y="5806440"/>
            <a:ext cx="3291840" cy="548640"/>
          </a:xfrm>
          <a:prstGeom prst="rect">
            <a:avLst/>
          </a:prstGeom>
          <a:noFill/>
        </p:spPr>
        <p:txBody>
          <a:bodyPr wrap="square">
            <a:spAutoFit/>
          </a:bodyPr>
          <a:lstStyle/>
          <a:p>
            <a:pPr algn="l"/>
            <a:r>
              <a:rPr sz="1450" b="1" i="0">
                <a:solidFill>
                  <a:srgbClr val="B32D2D"/>
                </a:solidFill>
                <a:latin typeface="Avenir Next"/>
              </a:rPr>
              <a:t>Forge the manifest?</a:t>
            </a:r>
          </a:p>
        </p:txBody>
      </p:sp>
      <p:sp>
        <p:nvSpPr>
          <p:cNvPr id="21" name="TextBox 20"/>
          <p:cNvSpPr txBox="1"/>
          <p:nvPr/>
        </p:nvSpPr>
        <p:spPr>
          <a:xfrm>
            <a:off x="4754880" y="5806440"/>
            <a:ext cx="7132320" cy="868680"/>
          </a:xfrm>
          <a:prstGeom prst="rect">
            <a:avLst/>
          </a:prstGeom>
          <a:noFill/>
        </p:spPr>
        <p:txBody>
          <a:bodyPr wrap="square">
            <a:spAutoFit/>
          </a:bodyPr>
          <a:lstStyle/>
          <a:p>
            <a:pPr algn="l"/>
            <a:r>
              <a:rPr sz="1200" b="0" i="0">
                <a:solidFill>
                  <a:srgbClr val="6B7480"/>
                </a:solidFill>
                <a:latin typeface="Menlo"/>
              </a:rPr>
              <a:t>its root is held by the one role that can't request seals and can't extract keys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914400" y="1005840"/>
            <a:ext cx="10332720" cy="4480560"/>
          </a:xfrm>
          <a:prstGeom prst="rect">
            <a:avLst/>
          </a:prstGeom>
          <a:noFill/>
        </p:spPr>
        <p:txBody>
          <a:bodyPr wrap="square">
            <a:spAutoFit/>
          </a:bodyPr>
          <a:lstStyle/>
          <a:p>
            <a:pPr algn="l"/>
            <a:r>
              <a:rPr sz="1900" b="0" i="1">
                <a:solidFill>
                  <a:srgbClr val="FAF7F0"/>
                </a:solidFill>
                <a:latin typeface="Avenir Next"/>
              </a:rPr>
              <a:t>“Alter one old artifact — one digit in a loan balance from last spring — and that entry's keyed hash stops recomputing. Fix the hash, and the next entry's link is wrong, because it pointed at the old one. Fix that, the next one breaks. You'd have to re-derive the whole tail from the point of the change. Then the daily root over that day comes out different — and the original root was signed and published a year ago, in a place your account can't reach. So you'd have to forge the historical seal too. And to make the forged seal check out, you'd need a signing key the published manifest vouches for on that date — which means forging the manifest signature, under a root held by the one role that can't request seals and can't extract keys.”</a:t>
            </a:r>
          </a:p>
        </p:txBody>
      </p:sp>
      <p:sp>
        <p:nvSpPr>
          <p:cNvPr id="3" name="TextBox 2"/>
          <p:cNvSpPr txBox="1"/>
          <p:nvPr/>
        </p:nvSpPr>
        <p:spPr>
          <a:xfrm>
            <a:off x="914400" y="5577840"/>
            <a:ext cx="10332720" cy="548640"/>
          </a:xfrm>
          <a:prstGeom prst="rect">
            <a:avLst/>
          </a:prstGeom>
          <a:noFill/>
        </p:spPr>
        <p:txBody>
          <a:bodyPr wrap="square">
            <a:spAutoFit/>
          </a:bodyPr>
          <a:lstStyle/>
          <a:p>
            <a:pPr algn="l"/>
            <a:r>
              <a:rPr sz="1400" b="0" i="0">
                <a:solidFill>
                  <a:srgbClr val="9EC9C8"/>
                </a:solidFill>
                <a:latin typeface="Avenir Next"/>
              </a:rPr>
              <a:t>— Luis, seal &amp; HSM trace  ·  Chapter 24, Success Bank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Why the attack fails — three simultaneous compromises</a:t>
            </a:r>
          </a:p>
        </p:txBody>
      </p:sp>
      <p:sp>
        <p:nvSpPr>
          <p:cNvPr id="3" name="TextBox 2"/>
          <p:cNvSpPr txBox="1"/>
          <p:nvPr/>
        </p:nvSpPr>
        <p:spPr>
          <a:xfrm>
            <a:off x="548640" y="868680"/>
            <a:ext cx="11064240" cy="457200"/>
          </a:xfrm>
          <a:prstGeom prst="rect">
            <a:avLst/>
          </a:prstGeom>
          <a:noFill/>
        </p:spPr>
        <p:txBody>
          <a:bodyPr wrap="square">
            <a:spAutoFit/>
          </a:bodyPr>
          <a:lstStyle/>
          <a:p>
            <a:pPr algn="l"/>
            <a:r>
              <a:rPr sz="1400" b="0" i="1">
                <a:solidFill>
                  <a:srgbClr val="6B7480"/>
                </a:solidFill>
                <a:latin typeface="Avenir Next"/>
              </a:rPr>
              <a:t>Any one layer surviving is enough to expose the forgery</a:t>
            </a:r>
          </a:p>
        </p:txBody>
      </p:sp>
      <p:sp>
        <p:nvSpPr>
          <p:cNvPr id="4" name="Rounded Rectangle 3"/>
          <p:cNvSpPr/>
          <p:nvPr/>
        </p:nvSpPr>
        <p:spPr>
          <a:xfrm>
            <a:off x="822960" y="2103120"/>
            <a:ext cx="3017520" cy="731520"/>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AF7F0"/>
                </a:solidFill>
              </a:rPr>
              <a:t>Per-event MAC</a:t>
            </a:r>
          </a:p>
        </p:txBody>
      </p:sp>
      <p:sp>
        <p:nvSpPr>
          <p:cNvPr id="5" name="Rounded Rectangle 4"/>
          <p:cNvSpPr/>
          <p:nvPr/>
        </p:nvSpPr>
        <p:spPr>
          <a:xfrm>
            <a:off x="822960" y="2926080"/>
            <a:ext cx="3017520" cy="1554480"/>
          </a:xfrm>
          <a:prstGeom prst="roundRect">
            <a:avLst/>
          </a:prstGeom>
          <a:solidFill>
            <a:srgbClr val="E7EEF2"/>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1B2A41"/>
                </a:solidFill>
              </a:rPr>
              <a:t>re-forging every keyed hash</a:t>
            </a:r>
          </a:p>
          <a:p>
            <a:pPr algn="ctr"/>
            <a:r>
              <a:rPr sz="1300">
                <a:solidFill>
                  <a:srgbClr val="1B2A41"/>
                </a:solidFill>
              </a:rPr>
              <a:t>in the altered tail requires</a:t>
            </a:r>
          </a:p>
          <a:p>
            <a:pPr algn="ctr"/>
            <a:r>
              <a:rPr sz="1300">
                <a:solidFill>
                  <a:srgbClr val="1B2A41"/>
                </a:solidFill>
              </a:rPr>
              <a:t>the event keys (ikm-*)</a:t>
            </a:r>
          </a:p>
        </p:txBody>
      </p:sp>
      <p:sp>
        <p:nvSpPr>
          <p:cNvPr id="6" name="Rounded Rectangle 5"/>
          <p:cNvSpPr/>
          <p:nvPr/>
        </p:nvSpPr>
        <p:spPr>
          <a:xfrm>
            <a:off x="4617720" y="2103120"/>
            <a:ext cx="3017520" cy="731520"/>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AF7F0"/>
                </a:solidFill>
              </a:rPr>
              <a:t>Published daily seal</a:t>
            </a:r>
          </a:p>
        </p:txBody>
      </p:sp>
      <p:sp>
        <p:nvSpPr>
          <p:cNvPr id="7" name="Rounded Rectangle 6"/>
          <p:cNvSpPr/>
          <p:nvPr/>
        </p:nvSpPr>
        <p:spPr>
          <a:xfrm>
            <a:off x="4617720" y="2926080"/>
            <a:ext cx="3017520" cy="1554480"/>
          </a:xfrm>
          <a:prstGeom prst="roundRect">
            <a:avLst/>
          </a:prstGeom>
          <a:solidFill>
            <a:srgbClr val="E7EEF2"/>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1B2A41"/>
                </a:solidFill>
              </a:rPr>
              <a:t>S-2025-05-23's root is signed</a:t>
            </a:r>
          </a:p>
          <a:p>
            <a:pPr algn="ctr"/>
            <a:r>
              <a:rPr sz="1300">
                <a:solidFill>
                  <a:srgbClr val="1B2A41"/>
                </a:solidFill>
              </a:rPr>
              <a:t>and held OUTSIDE the</a:t>
            </a:r>
          </a:p>
          <a:p>
            <a:pPr algn="ctr"/>
            <a:r>
              <a:rPr sz="1300">
                <a:solidFill>
                  <a:srgbClr val="1B2A41"/>
                </a:solidFill>
              </a:rPr>
              <a:t>institution's reach</a:t>
            </a:r>
          </a:p>
        </p:txBody>
      </p:sp>
      <p:sp>
        <p:nvSpPr>
          <p:cNvPr id="8" name="Rounded Rectangle 7"/>
          <p:cNvSpPr/>
          <p:nvPr/>
        </p:nvSpPr>
        <p:spPr>
          <a:xfrm>
            <a:off x="8412480" y="2103120"/>
            <a:ext cx="3017520" cy="731520"/>
          </a:xfrm>
          <a:prstGeom prst="roundRect">
            <a:avLst/>
          </a:prstGeom>
          <a:solidFill>
            <a:srgbClr val="1B2A41"/>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AF7F0"/>
                </a:solidFill>
              </a:rPr>
              <a:t>Manifest signature</a:t>
            </a:r>
          </a:p>
        </p:txBody>
      </p:sp>
      <p:sp>
        <p:nvSpPr>
          <p:cNvPr id="9" name="Rounded Rectangle 8"/>
          <p:cNvSpPr/>
          <p:nvPr/>
        </p:nvSpPr>
        <p:spPr>
          <a:xfrm>
            <a:off x="8412480" y="2926080"/>
            <a:ext cx="3017520" cy="1554480"/>
          </a:xfrm>
          <a:prstGeom prst="roundRect">
            <a:avLst/>
          </a:prstGeom>
          <a:solidFill>
            <a:srgbClr val="E7EEF2"/>
          </a:solidFill>
          <a:ln w="15875">
            <a:solidFill>
              <a:srgbClr val="1B2A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a:solidFill>
                  <a:srgbClr val="1B2A41"/>
                </a:solidFill>
              </a:rPr>
              <a:t>key custody separated by role</a:t>
            </a:r>
          </a:p>
          <a:p>
            <a:pPr algn="ctr"/>
            <a:r>
              <a:rPr sz="1300">
                <a:solidFill>
                  <a:srgbClr val="1B2A41"/>
                </a:solidFill>
              </a:rPr>
              <a:t>and hardware — the signer</a:t>
            </a:r>
          </a:p>
          <a:p>
            <a:pPr algn="ctr"/>
            <a:r>
              <a:rPr sz="1300">
                <a:solidFill>
                  <a:srgbClr val="1B2A41"/>
                </a:solidFill>
              </a:rPr>
              <a:t>can't be asked to cooperate</a:t>
            </a:r>
          </a:p>
        </p:txBody>
      </p:sp>
      <p:sp>
        <p:nvSpPr>
          <p:cNvPr id="10" name="TextBox 9"/>
          <p:cNvSpPr txBox="1"/>
          <p:nvPr/>
        </p:nvSpPr>
        <p:spPr>
          <a:xfrm>
            <a:off x="822960" y="5029200"/>
            <a:ext cx="10881360" cy="1371600"/>
          </a:xfrm>
          <a:prstGeom prst="rect">
            <a:avLst/>
          </a:prstGeom>
          <a:noFill/>
        </p:spPr>
        <p:txBody>
          <a:bodyPr wrap="square">
            <a:spAutoFit/>
          </a:bodyPr>
          <a:lstStyle/>
          <a:p>
            <a:pPr algn="l"/>
            <a:r>
              <a:rPr sz="1600" b="1" i="0">
                <a:solidFill>
                  <a:srgbClr val="0E7C7B"/>
                </a:solidFill>
                <a:latin typeface="Avenir Next"/>
              </a:rPr>
              <a:t>Trust is not asserted — it is re-run. An examiner re-executes verification with independent tooling</a:t>
            </a:r>
          </a:p>
          <a:p>
            <a:pPr algn="l"/>
            <a:r>
              <a:rPr sz="1600" b="1" i="0">
                <a:solidFill>
                  <a:srgbClr val="0E7C7B"/>
                </a:solidFill>
                <a:latin typeface="Avenir Next"/>
              </a:rPr>
              <a:t>and either reproduces the verdict or exposes the break at the exact byte offset.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spAutoFit/>
          </a:bodyPr>
          <a:lstStyle/>
          <a:p>
            <a:pPr algn="l"/>
            <a:r>
              <a:rPr sz="2800" b="1" i="0">
                <a:solidFill>
                  <a:srgbClr val="1B2A41"/>
                </a:solidFill>
                <a:latin typeface="Avenir Next"/>
              </a:rPr>
              <a:t>Reference</a:t>
            </a:r>
          </a:p>
        </p:txBody>
      </p:sp>
      <p:sp>
        <p:nvSpPr>
          <p:cNvPr id="3" name="TextBox 2"/>
          <p:cNvSpPr txBox="1"/>
          <p:nvPr/>
        </p:nvSpPr>
        <p:spPr>
          <a:xfrm>
            <a:off x="548640" y="868680"/>
            <a:ext cx="11064240" cy="457200"/>
          </a:xfrm>
          <a:prstGeom prst="rect">
            <a:avLst/>
          </a:prstGeom>
          <a:noFill/>
        </p:spPr>
        <p:txBody>
          <a:bodyPr wrap="square">
            <a:spAutoFit/>
          </a:bodyPr>
          <a:lstStyle/>
          <a:p>
            <a:pPr algn="l"/>
            <a:r>
              <a:rPr sz="1400" b="0" i="1">
                <a:solidFill>
                  <a:srgbClr val="6B7480"/>
                </a:solidFill>
                <a:latin typeface="Avenir Next"/>
              </a:rPr>
              <a:t>Where each piece lives</a:t>
            </a:r>
          </a:p>
        </p:txBody>
      </p:sp>
      <p:sp>
        <p:nvSpPr>
          <p:cNvPr id="4" name="TextBox 3"/>
          <p:cNvSpPr txBox="1"/>
          <p:nvPr/>
        </p:nvSpPr>
        <p:spPr>
          <a:xfrm>
            <a:off x="822960" y="1645920"/>
            <a:ext cx="10789920" cy="4389120"/>
          </a:xfrm>
          <a:prstGeom prst="rect">
            <a:avLst/>
          </a:prstGeom>
          <a:noFill/>
        </p:spPr>
        <p:txBody>
          <a:bodyPr wrap="square">
            <a:spAutoFit/>
          </a:bodyPr>
          <a:lstStyle/>
          <a:p>
            <a:pPr algn="l"/>
            <a:r>
              <a:rPr sz="1500" b="0" i="0">
                <a:solidFill>
                  <a:srgbClr val="1B2A41"/>
                </a:solidFill>
                <a:latin typeface="Avenir Next"/>
              </a:rPr>
              <a:t>Spec (public, ffiec-public / chain-of-custody 0.3.0):</a:t>
            </a:r>
          </a:p>
          <a:p>
            <a:pPr algn="l"/>
            <a:r>
              <a:rPr sz="1500" b="0" i="0">
                <a:solidFill>
                  <a:srgbClr val="1B2A41"/>
                </a:solidFill>
                <a:latin typeface="Avenir Next"/>
              </a:rPr>
              <a:t>    §4 — the four primitives: per-event MAC, Merkle seal, HSM signature, publication</a:t>
            </a:r>
          </a:p>
          <a:p>
            <a:pPr algn="l"/>
            <a:r>
              <a:rPr sz="1500" b="0" i="0">
                <a:solidFill>
                  <a:srgbClr val="1B2A41"/>
                </a:solidFill>
                <a:latin typeface="Avenir Next"/>
              </a:rPr>
              <a:t>    §7 — the verifier procedure: re-run the walk, reproduce the verdict byte-equal</a:t>
            </a:r>
          </a:p>
          <a:p>
            <a:pPr algn="l"/>
            <a:r>
              <a:rPr sz="1500" b="0" i="0">
                <a:solidFill>
                  <a:srgbClr val="1B2A41"/>
                </a:solidFill>
                <a:latin typeface="Avenir Next"/>
              </a:rPr>
              <a:t>    §10.76 / §10.1 / §10.5 — key-registry manifest, fingerprint reconciliation, separation of duties</a:t>
            </a:r>
          </a:p>
          <a:p>
            <a:pPr algn="l"/>
            <a:r>
              <a:rPr sz="1500" b="0" i="0">
                <a:solidFill>
                  <a:srgbClr val="1B2A41"/>
                </a:solidFill>
                <a:latin typeface="Avenir Next"/>
              </a:rPr>
              <a:t>    §10.84 — ordering proofs (a later event binds the hash of an earlier, already-sealed event)</a:t>
            </a:r>
          </a:p>
          <a:p>
            <a:pPr algn="l"/>
            <a:r>
              <a:rPr sz="1500" b="0" i="0">
                <a:solidFill>
                  <a:srgbClr val="1B2A41"/>
                </a:solidFill>
                <a:latin typeface="Avenir Next"/>
              </a:rPr>
              <a:t>    §10.9 — key-registry retention: keys must outlive the longest-lived artifact they verify</a:t>
            </a:r>
          </a:p>
          <a:p>
            <a:pPr algn="l"/>
          </a:p>
          <a:p>
            <a:pPr algn="l"/>
            <a:r>
              <a:rPr sz="1500" b="0" i="0">
                <a:solidFill>
                  <a:srgbClr val="1B2A41"/>
                </a:solidFill>
                <a:latin typeface="Avenir Next"/>
              </a:rPr>
              <a:t>Reference verifier: ffiec repo — ffiec-verify (profiles: ffiec, tx-dob)</a:t>
            </a:r>
          </a:p>
          <a:p>
            <a:pPr algn="l"/>
          </a:p>
          <a:p>
            <a:pPr algn="l"/>
            <a:r>
              <a:rPr sz="1500" b="0" i="0">
                <a:solidFill>
                  <a:srgbClr val="1B2A41"/>
                </a:solidFill>
                <a:latin typeface="Avenir Next"/>
              </a:rPr>
              <a:t>Companion deck: diagrams/compliance/chain-walk-reconstruction.pptx (the backward walk, same example data)</a:t>
            </a:r>
          </a:p>
          <a:p>
            <a:pPr algn="l"/>
            <a:r>
              <a:rPr sz="1500" b="0" i="0">
                <a:solidFill>
                  <a:srgbClr val="1B2A41"/>
                </a:solidFill>
                <a:latin typeface="Avenir Next"/>
              </a:rPr>
              <a:t>Narrative dramatization: prose/compliance/novel/24-success-bank.md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